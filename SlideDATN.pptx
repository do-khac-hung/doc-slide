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33"/>
  </p:notesMasterIdLst>
  <p:sldIdLst>
    <p:sldId id="256" r:id="rId4"/>
    <p:sldId id="261" r:id="rId5"/>
    <p:sldId id="269" r:id="rId6"/>
    <p:sldId id="304" r:id="rId7"/>
    <p:sldId id="287" r:id="rId8"/>
    <p:sldId id="290" r:id="rId9"/>
    <p:sldId id="286" r:id="rId10"/>
    <p:sldId id="288" r:id="rId11"/>
    <p:sldId id="285" r:id="rId12"/>
    <p:sldId id="273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289" r:id="rId31"/>
    <p:sldId id="264" r:id="rId3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A5EB2-8C95-410C-AEDF-393C5EA7598D}" type="datetimeFigureOut">
              <a:rPr lang="en-US" smtClean="0"/>
              <a:t>12/15/2018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02E9B-BC96-477C-8ECD-7AB64BE7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5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err="1">
                <a:solidFill>
                  <a:schemeClr val="tx1"/>
                </a:solidFill>
              </a:rPr>
              <a:t>Sự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đột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phá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trong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ngành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công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nghiệp</a:t>
            </a:r>
            <a:r>
              <a:rPr lang="en-US" sz="1200">
                <a:solidFill>
                  <a:schemeClr val="tx1"/>
                </a:solidFill>
              </a:rPr>
              <a:t> ô </a:t>
            </a:r>
            <a:r>
              <a:rPr lang="en-US" sz="1200" err="1">
                <a:solidFill>
                  <a:schemeClr val="tx1"/>
                </a:solidFill>
              </a:rPr>
              <a:t>tô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những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năm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gần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đây</a:t>
            </a:r>
            <a:r>
              <a:rPr lang="en-US" sz="1200">
                <a:solidFill>
                  <a:schemeClr val="tx1"/>
                </a:solidFill>
              </a:rPr>
              <a:t> ở </a:t>
            </a:r>
            <a:r>
              <a:rPr lang="en-US" sz="1200" err="1">
                <a:solidFill>
                  <a:schemeClr val="tx1"/>
                </a:solidFill>
              </a:rPr>
              <a:t>Việt</a:t>
            </a:r>
            <a:r>
              <a:rPr lang="en-US" sz="1200">
                <a:solidFill>
                  <a:schemeClr val="tx1"/>
                </a:solidFill>
              </a:rPr>
              <a:t> Nam </a:t>
            </a:r>
            <a:r>
              <a:rPr lang="en-US" sz="1200" err="1">
                <a:solidFill>
                  <a:schemeClr val="tx1"/>
                </a:solidFill>
              </a:rPr>
              <a:t>bằng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sự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kiện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công</a:t>
            </a:r>
            <a:r>
              <a:rPr lang="en-US" sz="1200">
                <a:solidFill>
                  <a:schemeClr val="tx1"/>
                </a:solidFill>
              </a:rPr>
              <a:t> ty </a:t>
            </a:r>
            <a:r>
              <a:rPr lang="en-US" sz="1200" err="1">
                <a:solidFill>
                  <a:schemeClr val="tx1"/>
                </a:solidFill>
              </a:rPr>
              <a:t>trách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nhiệm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hữu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hạn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sản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xuất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và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kinh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doanh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VinFast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giới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thiệu</a:t>
            </a:r>
            <a:r>
              <a:rPr lang="en-US" sz="1200">
                <a:solidFill>
                  <a:schemeClr val="tx1"/>
                </a:solidFill>
              </a:rPr>
              <a:t> 2 </a:t>
            </a:r>
            <a:r>
              <a:rPr lang="en-US" sz="1200" err="1">
                <a:solidFill>
                  <a:schemeClr val="tx1"/>
                </a:solidFill>
              </a:rPr>
              <a:t>mẫu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xe</a:t>
            </a:r>
            <a:r>
              <a:rPr lang="en-US" sz="1200">
                <a:solidFill>
                  <a:schemeClr val="tx1"/>
                </a:solidFill>
              </a:rPr>
              <a:t> LUX A2.0 </a:t>
            </a:r>
            <a:r>
              <a:rPr lang="en-US" sz="1200" err="1">
                <a:solidFill>
                  <a:schemeClr val="tx1"/>
                </a:solidFill>
              </a:rPr>
              <a:t>thuộc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dòng</a:t>
            </a:r>
            <a:r>
              <a:rPr lang="en-US" sz="1200">
                <a:solidFill>
                  <a:schemeClr val="tx1"/>
                </a:solidFill>
              </a:rPr>
              <a:t> Sedan </a:t>
            </a:r>
            <a:r>
              <a:rPr lang="en-US" sz="1200" err="1">
                <a:solidFill>
                  <a:schemeClr val="tx1"/>
                </a:solidFill>
              </a:rPr>
              <a:t>và</a:t>
            </a:r>
            <a:r>
              <a:rPr lang="en-US" sz="1200">
                <a:solidFill>
                  <a:schemeClr val="tx1"/>
                </a:solidFill>
              </a:rPr>
              <a:t> LUX SA2.0 </a:t>
            </a:r>
            <a:r>
              <a:rPr lang="en-US" sz="1200" err="1">
                <a:solidFill>
                  <a:schemeClr val="tx1"/>
                </a:solidFill>
              </a:rPr>
              <a:t>thuộc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dòng</a:t>
            </a:r>
            <a:r>
              <a:rPr lang="en-US" sz="1200">
                <a:solidFill>
                  <a:schemeClr val="tx1"/>
                </a:solidFill>
              </a:rPr>
              <a:t> </a:t>
            </a:r>
            <a:r>
              <a:rPr lang="en-US" sz="1200" err="1">
                <a:solidFill>
                  <a:schemeClr val="tx1"/>
                </a:solidFill>
              </a:rPr>
              <a:t>xe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thể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thao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đa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dụng</a:t>
            </a:r>
            <a:r>
              <a:rPr lang="en-US" sz="1200">
                <a:solidFill>
                  <a:schemeClr val="tx1"/>
                </a:solidFill>
              </a:rPr>
              <a:t> </a:t>
            </a:r>
            <a:r>
              <a:rPr lang="en-US" sz="1200" err="1">
                <a:solidFill>
                  <a:schemeClr val="tx1"/>
                </a:solidFill>
              </a:rPr>
              <a:t>tại</a:t>
            </a:r>
            <a:r>
              <a:rPr lang="en-US" sz="1200">
                <a:solidFill>
                  <a:schemeClr val="tx1"/>
                </a:solidFill>
              </a:rPr>
              <a:t> </a:t>
            </a:r>
            <a:r>
              <a:rPr lang="en-US" sz="1200" err="1">
                <a:solidFill>
                  <a:schemeClr val="tx1"/>
                </a:solidFill>
              </a:rPr>
              <a:t>Triển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lãm</a:t>
            </a:r>
            <a:r>
              <a:rPr lang="en-US" sz="1200">
                <a:solidFill>
                  <a:schemeClr val="tx1"/>
                </a:solidFill>
              </a:rPr>
              <a:t> ô </a:t>
            </a:r>
            <a:r>
              <a:rPr lang="en-US" sz="1200" err="1">
                <a:solidFill>
                  <a:schemeClr val="tx1"/>
                </a:solidFill>
              </a:rPr>
              <a:t>tô</a:t>
            </a:r>
            <a:r>
              <a:rPr lang="en-US" sz="1200">
                <a:solidFill>
                  <a:schemeClr val="tx1"/>
                </a:solidFill>
              </a:rPr>
              <a:t> Paris 2018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2E9B-BC96-477C-8ECD-7AB64BE773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2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2537570"/>
            <a:ext cx="9144000" cy="2338895"/>
          </a:xfrm>
        </p:spPr>
        <p:txBody>
          <a:bodyPr/>
          <a:lstStyle/>
          <a:p>
            <a:pPr lvl="0"/>
            <a:r>
              <a:rPr lang="en-US" i="1" err="1"/>
              <a:t>Xây</a:t>
            </a:r>
            <a:r>
              <a:rPr lang="en-US" i="1"/>
              <a:t> </a:t>
            </a:r>
            <a:r>
              <a:rPr lang="en-US" i="1" err="1"/>
              <a:t>dựng</a:t>
            </a:r>
            <a:r>
              <a:rPr lang="en-US" i="1"/>
              <a:t> </a:t>
            </a:r>
            <a:r>
              <a:rPr lang="en-US" i="1" err="1"/>
              <a:t>hệ</a:t>
            </a:r>
            <a:r>
              <a:rPr lang="en-US" i="1"/>
              <a:t> thống liên lạc và hỗ trợ cho chủ xe ô tô</a:t>
            </a:r>
            <a:endParaRPr lang="en-US" altLang="ko-KR" sz="36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220072" y="4181531"/>
            <a:ext cx="3528392" cy="954772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err="1"/>
              <a:t>Sinh</a:t>
            </a:r>
            <a:r>
              <a:rPr lang="en-US" altLang="ko-KR"/>
              <a:t> </a:t>
            </a:r>
            <a:r>
              <a:rPr lang="en-US" altLang="ko-KR" err="1"/>
              <a:t>viên</a:t>
            </a:r>
            <a:r>
              <a:rPr lang="en-US" altLang="ko-KR"/>
              <a:t> </a:t>
            </a:r>
            <a:r>
              <a:rPr lang="en-US" altLang="ko-KR" err="1"/>
              <a:t>thực</a:t>
            </a:r>
            <a:r>
              <a:rPr lang="en-US" altLang="ko-KR"/>
              <a:t> </a:t>
            </a:r>
            <a:r>
              <a:rPr lang="en-US" altLang="ko-KR" err="1"/>
              <a:t>hiện</a:t>
            </a:r>
            <a:r>
              <a:rPr lang="en-US" altLang="ko-KR"/>
              <a:t>: </a:t>
            </a:r>
            <a:r>
              <a:rPr lang="en-US" altLang="ko-KR" err="1"/>
              <a:t>Đỗ</a:t>
            </a:r>
            <a:r>
              <a:rPr lang="en-US" altLang="ko-KR"/>
              <a:t> </a:t>
            </a:r>
            <a:r>
              <a:rPr lang="en-US" altLang="ko-KR" err="1"/>
              <a:t>Khắc</a:t>
            </a:r>
            <a:r>
              <a:rPr lang="en-US" altLang="ko-KR"/>
              <a:t> </a:t>
            </a:r>
            <a:r>
              <a:rPr lang="en-US" altLang="ko-KR" err="1"/>
              <a:t>Hùng</a:t>
            </a:r>
            <a:r>
              <a:rPr lang="en-US" altLang="ko-KR"/>
              <a:t> </a:t>
            </a:r>
            <a:endParaRPr lang="ko-KR" altLang="en-US"/>
          </a:p>
          <a:p>
            <a:pPr>
              <a:spcBef>
                <a:spcPts val="0"/>
              </a:spcBef>
              <a:defRPr/>
            </a:pPr>
            <a:endParaRPr lang="en-US" altLang="ko-KR"/>
          </a:p>
          <a:p>
            <a:pPr>
              <a:spcBef>
                <a:spcPts val="0"/>
              </a:spcBef>
              <a:defRPr/>
            </a:pPr>
            <a:r>
              <a:rPr lang="en-US" altLang="ko-KR" err="1"/>
              <a:t>GVHD:Ths</a:t>
            </a:r>
            <a:r>
              <a:rPr lang="en-US" altLang="ko-KR"/>
              <a:t> </a:t>
            </a:r>
            <a:r>
              <a:rPr lang="en-US" altLang="ko-KR" err="1"/>
              <a:t>Nguyễn</a:t>
            </a:r>
            <a:r>
              <a:rPr lang="en-US" altLang="ko-KR"/>
              <a:t> </a:t>
            </a:r>
            <a:r>
              <a:rPr lang="en-US" altLang="ko-KR" err="1"/>
              <a:t>Đức</a:t>
            </a:r>
            <a:r>
              <a:rPr lang="en-US" altLang="ko-KR"/>
              <a:t> </a:t>
            </a:r>
            <a:r>
              <a:rPr lang="en-US" altLang="ko-KR" err="1"/>
              <a:t>Tiến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66953"/>
            <a:ext cx="8855968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Nội</a:t>
            </a:r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dung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984973" y="982717"/>
            <a:ext cx="5611091" cy="576000"/>
            <a:chOff x="2984973" y="1131591"/>
            <a:chExt cx="5611091" cy="576000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1131591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>
                <a:solidFill>
                  <a:schemeClr val="bg1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8072" y="1234925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>
                  <a:solidFill>
                    <a:schemeClr val="accent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667248" y="1258262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Tổng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quan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về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đề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tài</a:t>
              </a:r>
              <a:endParaRPr lang="en-US" altLang="ko-KR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984973" y="1820776"/>
            <a:ext cx="5611091" cy="576000"/>
            <a:chOff x="2984973" y="2023433"/>
            <a:chExt cx="5611091" cy="576000"/>
          </a:xfrm>
        </p:grpSpPr>
        <p:sp>
          <p:nvSpPr>
            <p:cNvPr id="15" name="Round Same Side Corner Rectangle 14"/>
            <p:cNvSpPr/>
            <p:nvPr/>
          </p:nvSpPr>
          <p:spPr>
            <a:xfrm rot="5400000">
              <a:off x="5719936" y="-3486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023433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2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88072" y="2126767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>
                  <a:solidFill>
                    <a:schemeClr val="accent2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667248" y="2150104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Nền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tảng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công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nghệ</a:t>
              </a:r>
              <a:endParaRPr lang="en-US" altLang="ko-KR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972334" y="2616584"/>
            <a:ext cx="5611091" cy="576000"/>
            <a:chOff x="2984973" y="2915275"/>
            <a:chExt cx="5611091" cy="5760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5719936" y="5431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915275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3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88072" y="3018609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>
                  <a:solidFill>
                    <a:schemeClr val="accent3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667248" y="3041946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Phân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tích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thiết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kế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hệ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thống</a:t>
              </a:r>
              <a:endParaRPr lang="en-US" altLang="ko-KR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984973" y="3456859"/>
            <a:ext cx="5611091" cy="576000"/>
            <a:chOff x="2984973" y="3807117"/>
            <a:chExt cx="5611091" cy="576000"/>
          </a:xfrm>
        </p:grpSpPr>
        <p:sp>
          <p:nvSpPr>
            <p:cNvPr id="25" name="Round Same Side Corner Rectangle 24"/>
            <p:cNvSpPr/>
            <p:nvPr/>
          </p:nvSpPr>
          <p:spPr>
            <a:xfrm rot="5400000">
              <a:off x="5719936" y="14350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3807117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4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>
                <a:solidFill>
                  <a:schemeClr val="bg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988072" y="3910451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>
                  <a:solidFill>
                    <a:schemeClr val="accent4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667248" y="3933788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Cài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đặt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và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triển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khai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hệ</a:t>
              </a: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err="1">
                  <a:solidFill>
                    <a:schemeClr val="bg1"/>
                  </a:solidFill>
                  <a:cs typeface="Arial" pitchFamily="34" charset="0"/>
                </a:rPr>
                <a:t>thống</a:t>
              </a:r>
              <a:endParaRPr lang="en-US" altLang="ko-KR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FAE563-CA32-4DB8-B7D6-865AF4900511}"/>
              </a:ext>
            </a:extLst>
          </p:cNvPr>
          <p:cNvGrpSpPr/>
          <p:nvPr/>
        </p:nvGrpSpPr>
        <p:grpSpPr>
          <a:xfrm>
            <a:off x="2980227" y="4250450"/>
            <a:ext cx="5611091" cy="576000"/>
            <a:chOff x="2984973" y="3807117"/>
            <a:chExt cx="5611091" cy="576000"/>
          </a:xfrm>
        </p:grpSpPr>
        <p:sp>
          <p:nvSpPr>
            <p:cNvPr id="35" name="Round Same Side Corner Rectangle 24">
              <a:extLst>
                <a:ext uri="{FF2B5EF4-FFF2-40B4-BE49-F238E27FC236}">
                  <a16:creationId xmlns:a16="http://schemas.microsoft.com/office/drawing/2014/main" id="{9866E28E-EA48-41BC-94F9-701A7052E75B}"/>
                </a:ext>
              </a:extLst>
            </p:cNvPr>
            <p:cNvSpPr/>
            <p:nvPr/>
          </p:nvSpPr>
          <p:spPr>
            <a:xfrm rot="5400000">
              <a:off x="5719936" y="14350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6" name="AutoShape 92">
              <a:extLst>
                <a:ext uri="{FF2B5EF4-FFF2-40B4-BE49-F238E27FC236}">
                  <a16:creationId xmlns:a16="http://schemas.microsoft.com/office/drawing/2014/main" id="{DBBC8A22-628B-4DDD-8F75-BD2450FD01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2984973" y="3807117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4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EDA1F21-7FF2-42FA-9FBE-C52C9109BE8B}"/>
                </a:ext>
              </a:extLst>
            </p:cNvPr>
            <p:cNvSpPr txBox="1"/>
            <p:nvPr/>
          </p:nvSpPr>
          <p:spPr>
            <a:xfrm>
              <a:off x="2988072" y="3910451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>
                  <a:solidFill>
                    <a:schemeClr val="accent4"/>
                  </a:solidFill>
                  <a:cs typeface="Arial" pitchFamily="34" charset="0"/>
                </a:rPr>
                <a:t>05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7753D2-F037-4FA0-9F31-F058FDC36D14}"/>
                </a:ext>
              </a:extLst>
            </p:cNvPr>
            <p:cNvSpPr txBox="1"/>
            <p:nvPr/>
          </p:nvSpPr>
          <p:spPr bwMode="auto">
            <a:xfrm>
              <a:off x="3667248" y="3933788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Tổng kết và đánh giá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536" y="195486"/>
            <a:ext cx="8424936" cy="576064"/>
          </a:xfrm>
        </p:spPr>
        <p:txBody>
          <a:bodyPr anchor="ctr"/>
          <a:lstStyle/>
          <a:p>
            <a:pPr algn="ctr"/>
            <a:r>
              <a:rPr lang="en-US" altLang="ko-KR" b="1" err="1"/>
              <a:t>Tổng</a:t>
            </a:r>
            <a:r>
              <a:rPr lang="en-US" altLang="ko-KR" b="1"/>
              <a:t> </a:t>
            </a:r>
            <a:r>
              <a:rPr lang="en-US" altLang="ko-KR" b="1" err="1"/>
              <a:t>quan</a:t>
            </a:r>
            <a:r>
              <a:rPr lang="en-US" altLang="ko-KR" b="1"/>
              <a:t> </a:t>
            </a:r>
            <a:r>
              <a:rPr lang="en-US" altLang="ko-KR" b="1" err="1"/>
              <a:t>đề</a:t>
            </a:r>
            <a:r>
              <a:rPr lang="en-US" altLang="ko-KR" b="1"/>
              <a:t> </a:t>
            </a:r>
            <a:r>
              <a:rPr lang="en-US" altLang="ko-KR" b="1" err="1"/>
              <a:t>tài</a:t>
            </a:r>
            <a:endParaRPr lang="ko-KR" altLang="en-US" b="1"/>
          </a:p>
        </p:txBody>
      </p:sp>
      <p:grpSp>
        <p:nvGrpSpPr>
          <p:cNvPr id="4" name="Group 3"/>
          <p:cNvGrpSpPr/>
          <p:nvPr/>
        </p:nvGrpSpPr>
        <p:grpSpPr>
          <a:xfrm rot="2700000">
            <a:off x="948343" y="1730764"/>
            <a:ext cx="2544632" cy="2883946"/>
            <a:chOff x="4242525" y="2067694"/>
            <a:chExt cx="2223612" cy="2520120"/>
          </a:xfrm>
          <a:solidFill>
            <a:srgbClr val="85D8DE"/>
          </a:solidFill>
        </p:grpSpPr>
        <p:sp>
          <p:nvSpPr>
            <p:cNvPr id="5" name="Rounded Rectangle 4"/>
            <p:cNvSpPr/>
            <p:nvPr/>
          </p:nvSpPr>
          <p:spPr>
            <a:xfrm>
              <a:off x="4242525" y="3147814"/>
              <a:ext cx="1440000" cy="1440000"/>
            </a:xfrm>
            <a:prstGeom prst="roundRect">
              <a:avLst>
                <a:gd name="adj" fmla="val 134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80455" y="2067694"/>
              <a:ext cx="1008000" cy="1008000"/>
            </a:xfrm>
            <a:prstGeom prst="roundRect">
              <a:avLst>
                <a:gd name="adj" fmla="val 13467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746137" y="3147814"/>
              <a:ext cx="720000" cy="720000"/>
            </a:xfrm>
            <a:prstGeom prst="roundRect">
              <a:avLst>
                <a:gd name="adj" fmla="val 13467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4217" y="2517614"/>
              <a:ext cx="540000" cy="540000"/>
            </a:xfrm>
            <a:prstGeom prst="roundRect">
              <a:avLst>
                <a:gd name="adj" fmla="val 1346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20178" y="2877204"/>
            <a:ext cx="1189749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b="1">
                <a:solidFill>
                  <a:schemeClr val="bg1"/>
                </a:solidFill>
                <a:cs typeface="Arial" pitchFamily="34" charset="0"/>
              </a:rPr>
              <a:t>60</a:t>
            </a:r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8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0894" y="2131090"/>
            <a:ext cx="84510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  <a:cs typeface="Arial" pitchFamily="34" charset="0"/>
              </a:rPr>
              <a:t>30</a:t>
            </a:r>
            <a:r>
              <a:rPr lang="en-US" altLang="ko-KR" b="1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6999" y="3695962"/>
            <a:ext cx="73289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>
                <a:solidFill>
                  <a:schemeClr val="bg1"/>
                </a:solidFill>
                <a:cs typeface="Arial" pitchFamily="34" charset="0"/>
              </a:rPr>
              <a:t>20</a:t>
            </a:r>
            <a:r>
              <a:rPr lang="en-US" altLang="ko-KR" sz="1600" b="1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7643" y="3101153"/>
            <a:ext cx="57740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cs typeface="Arial" pitchFamily="34" charset="0"/>
              </a:rPr>
              <a:t>10</a:t>
            </a:r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97212" y="1207703"/>
            <a:ext cx="211784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Vấn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đề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hiện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tại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91880" y="2636425"/>
            <a:ext cx="288032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Định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h</a:t>
            </a:r>
            <a:r>
              <a:rPr lang="vi-VN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ư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ớng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giải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pháp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7212" y="4133465"/>
            <a:ext cx="322158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Chức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năng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của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hệ</a:t>
            </a:r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000" b="1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thống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01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546930-FB80-4953-8982-0DE8DBA5E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err="1"/>
              <a:t>Vấn</a:t>
            </a:r>
            <a:r>
              <a:rPr lang="en-US" b="1"/>
              <a:t> </a:t>
            </a:r>
            <a:r>
              <a:rPr lang="en-US" b="1" err="1"/>
              <a:t>đề</a:t>
            </a:r>
            <a:r>
              <a:rPr lang="en-US" b="1"/>
              <a:t> </a:t>
            </a:r>
            <a:r>
              <a:rPr lang="en-US" b="1" err="1"/>
              <a:t>hiện</a:t>
            </a:r>
            <a:r>
              <a:rPr lang="en-US" b="1"/>
              <a:t> </a:t>
            </a:r>
            <a:r>
              <a:rPr lang="en-US" b="1" err="1"/>
              <a:t>tại</a:t>
            </a:r>
            <a:endParaRPr lang="en-US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A4ED5-999E-441F-8651-F5C7F0DC61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255" y="1675316"/>
            <a:ext cx="4572000" cy="79208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err="1">
                <a:solidFill>
                  <a:schemeClr val="tx1"/>
                </a:solidFill>
              </a:rPr>
              <a:t>Ngành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công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nghiệp</a:t>
            </a:r>
            <a:r>
              <a:rPr lang="en-US" sz="1600">
                <a:solidFill>
                  <a:schemeClr val="tx1"/>
                </a:solidFill>
              </a:rPr>
              <a:t> ô </a:t>
            </a:r>
            <a:r>
              <a:rPr lang="en-US" sz="1600" err="1">
                <a:solidFill>
                  <a:schemeClr val="tx1"/>
                </a:solidFill>
              </a:rPr>
              <a:t>tô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những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năm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gần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đây</a:t>
            </a:r>
            <a:r>
              <a:rPr lang="en-US" sz="1600">
                <a:solidFill>
                  <a:schemeClr val="tx1"/>
                </a:solidFill>
              </a:rPr>
              <a:t> ở </a:t>
            </a:r>
            <a:r>
              <a:rPr lang="en-US" sz="1600" err="1">
                <a:solidFill>
                  <a:schemeClr val="tx1"/>
                </a:solidFill>
              </a:rPr>
              <a:t>Việt</a:t>
            </a:r>
            <a:r>
              <a:rPr lang="en-US" sz="1600">
                <a:solidFill>
                  <a:schemeClr val="tx1"/>
                </a:solidFill>
              </a:rPr>
              <a:t> Nam </a:t>
            </a:r>
            <a:r>
              <a:rPr lang="en-US" sz="1600" err="1">
                <a:solidFill>
                  <a:schemeClr val="tx1"/>
                </a:solidFill>
              </a:rPr>
              <a:t>phát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triển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mãnh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mẽ</a:t>
            </a:r>
            <a:r>
              <a:rPr lang="en-US" sz="160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126F1-C5D1-4883-8FCB-7E96698DC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707654"/>
            <a:ext cx="4317479" cy="2432383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B6A278-0C53-4933-AF23-7D8F1B44884F}"/>
              </a:ext>
            </a:extLst>
          </p:cNvPr>
          <p:cNvSpPr txBox="1">
            <a:spLocks/>
          </p:cNvSpPr>
          <p:nvPr/>
        </p:nvSpPr>
        <p:spPr>
          <a:xfrm>
            <a:off x="0" y="2639708"/>
            <a:ext cx="4572000" cy="69954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err="1">
                <a:solidFill>
                  <a:schemeClr val="tx1"/>
                </a:solidFill>
              </a:rPr>
              <a:t>Nhu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cầu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sử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dụng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những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chiếc</a:t>
            </a:r>
            <a:r>
              <a:rPr lang="en-US" sz="1600">
                <a:solidFill>
                  <a:schemeClr val="tx1"/>
                </a:solidFill>
              </a:rPr>
              <a:t> ô </a:t>
            </a:r>
            <a:r>
              <a:rPr lang="en-US" sz="1600" err="1">
                <a:solidFill>
                  <a:schemeClr val="tx1"/>
                </a:solidFill>
              </a:rPr>
              <a:t>tô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của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mọi</a:t>
            </a:r>
            <a:r>
              <a:rPr lang="en-US" sz="160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600">
                <a:solidFill>
                  <a:schemeClr val="tx1"/>
                </a:solidFill>
              </a:rPr>
              <a:t>     </a:t>
            </a:r>
            <a:r>
              <a:rPr lang="en-US" sz="1600" err="1">
                <a:solidFill>
                  <a:schemeClr val="tx1"/>
                </a:solidFill>
              </a:rPr>
              <a:t>người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ngày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càng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tăng</a:t>
            </a:r>
            <a:r>
              <a:rPr lang="en-US" sz="1600">
                <a:solidFill>
                  <a:schemeClr val="tx1"/>
                </a:solidFill>
              </a:rPr>
              <a:t> 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BC39C4-9BD3-47CB-B243-4A5651DE542A}"/>
              </a:ext>
            </a:extLst>
          </p:cNvPr>
          <p:cNvSpPr txBox="1">
            <a:spLocks/>
          </p:cNvSpPr>
          <p:nvPr/>
        </p:nvSpPr>
        <p:spPr>
          <a:xfrm>
            <a:off x="26255" y="3451556"/>
            <a:ext cx="4572000" cy="792089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err="1">
                <a:solidFill>
                  <a:schemeClr val="tx1"/>
                </a:solidFill>
              </a:rPr>
              <a:t>Các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hãng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sản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xuất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muốn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phục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vụ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tốt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nhất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đối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với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khách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hàng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sử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dụng</a:t>
            </a:r>
            <a:r>
              <a:rPr lang="en-US" sz="1600">
                <a:solidFill>
                  <a:schemeClr val="tx1"/>
                </a:solidFill>
              </a:rPr>
              <a:t> ô </a:t>
            </a:r>
            <a:r>
              <a:rPr lang="en-US" sz="1600" err="1">
                <a:solidFill>
                  <a:schemeClr val="tx1"/>
                </a:solidFill>
              </a:rPr>
              <a:t>tô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của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hãng</a:t>
            </a:r>
            <a:r>
              <a:rPr lang="en-US" sz="1600">
                <a:solidFill>
                  <a:schemeClr val="tx1"/>
                </a:solidFill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40721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err="1"/>
              <a:t>Định</a:t>
            </a:r>
            <a:r>
              <a:rPr lang="en-US" altLang="ko-KR" b="1"/>
              <a:t> h</a:t>
            </a:r>
            <a:r>
              <a:rPr lang="vi-VN" altLang="ko-KR" b="1"/>
              <a:t>ư</a:t>
            </a:r>
            <a:r>
              <a:rPr lang="en-US" altLang="ko-KR" b="1" err="1"/>
              <a:t>ớng</a:t>
            </a:r>
            <a:r>
              <a:rPr lang="en-US" altLang="ko-KR" b="1"/>
              <a:t> </a:t>
            </a:r>
            <a:r>
              <a:rPr lang="en-US" altLang="ko-KR" b="1" err="1"/>
              <a:t>giải</a:t>
            </a:r>
            <a:r>
              <a:rPr lang="en-US" altLang="ko-KR" b="1"/>
              <a:t> </a:t>
            </a:r>
            <a:r>
              <a:rPr lang="en-US" altLang="ko-KR" b="1" err="1"/>
              <a:t>pháp</a:t>
            </a:r>
            <a:endParaRPr lang="ko-KR" altLang="en-US" b="1"/>
          </a:p>
        </p:txBody>
      </p:sp>
      <p:grpSp>
        <p:nvGrpSpPr>
          <p:cNvPr id="4" name="Group 3"/>
          <p:cNvGrpSpPr/>
          <p:nvPr/>
        </p:nvGrpSpPr>
        <p:grpSpPr>
          <a:xfrm>
            <a:off x="3768701" y="1705582"/>
            <a:ext cx="1580694" cy="2573783"/>
            <a:chOff x="3347864" y="1043588"/>
            <a:chExt cx="2127894" cy="3464768"/>
          </a:xfrm>
        </p:grpSpPr>
        <p:grpSp>
          <p:nvGrpSpPr>
            <p:cNvPr id="5" name="Group 4"/>
            <p:cNvGrpSpPr/>
            <p:nvPr/>
          </p:nvGrpSpPr>
          <p:grpSpPr>
            <a:xfrm>
              <a:off x="3347864" y="1043588"/>
              <a:ext cx="1807516" cy="1944216"/>
              <a:chOff x="3347864" y="1043588"/>
              <a:chExt cx="1807516" cy="1944216"/>
            </a:xfrm>
          </p:grpSpPr>
          <p:sp>
            <p:nvSpPr>
              <p:cNvPr id="9" name="Up Arrow 8"/>
              <p:cNvSpPr/>
              <p:nvPr/>
            </p:nvSpPr>
            <p:spPr>
              <a:xfrm>
                <a:off x="3347864" y="1043588"/>
                <a:ext cx="864096" cy="1152128"/>
              </a:xfrm>
              <a:prstGeom prst="upArrow">
                <a:avLst>
                  <a:gd name="adj1" fmla="val 50000"/>
                  <a:gd name="adj2" fmla="val 68625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Block Arc 9"/>
              <p:cNvSpPr/>
              <p:nvPr/>
            </p:nvSpPr>
            <p:spPr>
              <a:xfrm rot="10800000">
                <a:off x="3571204" y="1403628"/>
                <a:ext cx="1584176" cy="1584176"/>
              </a:xfrm>
              <a:prstGeom prst="blockArc">
                <a:avLst>
                  <a:gd name="adj1" fmla="val 16074307"/>
                  <a:gd name="adj2" fmla="val 209627"/>
                  <a:gd name="adj3" fmla="val 2726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 rot="10800000">
              <a:off x="3668242" y="2564140"/>
              <a:ext cx="1807516" cy="1944216"/>
              <a:chOff x="3347864" y="1043588"/>
              <a:chExt cx="1807516" cy="1944216"/>
            </a:xfrm>
          </p:grpSpPr>
          <p:sp>
            <p:nvSpPr>
              <p:cNvPr id="7" name="Up Arrow 6"/>
              <p:cNvSpPr/>
              <p:nvPr/>
            </p:nvSpPr>
            <p:spPr>
              <a:xfrm>
                <a:off x="3347864" y="1043588"/>
                <a:ext cx="864096" cy="1152128"/>
              </a:xfrm>
              <a:prstGeom prst="upArrow">
                <a:avLst>
                  <a:gd name="adj1" fmla="val 50000"/>
                  <a:gd name="adj2" fmla="val 68625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Block Arc 7"/>
              <p:cNvSpPr/>
              <p:nvPr/>
            </p:nvSpPr>
            <p:spPr>
              <a:xfrm rot="10800000">
                <a:off x="3571204" y="1403628"/>
                <a:ext cx="1584176" cy="1584176"/>
              </a:xfrm>
              <a:prstGeom prst="blockArc">
                <a:avLst>
                  <a:gd name="adj1" fmla="val 16074307"/>
                  <a:gd name="adj2" fmla="val 209627"/>
                  <a:gd name="adj3" fmla="val 2726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3304872" y="1346905"/>
            <a:ext cx="15695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Mobile App</a:t>
            </a:r>
            <a:endParaRPr lang="ko-KR" altLang="en-US" sz="12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43677" y="4371950"/>
            <a:ext cx="15695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Website</a:t>
            </a:r>
            <a:endParaRPr lang="ko-KR" altLang="en-US" sz="1200" b="1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868144" y="3149555"/>
            <a:ext cx="2821708" cy="1530172"/>
            <a:chOff x="5436096" y="2664083"/>
            <a:chExt cx="2821708" cy="1530172"/>
          </a:xfrm>
        </p:grpSpPr>
        <p:sp>
          <p:nvSpPr>
            <p:cNvPr id="14" name="TextBox 13"/>
            <p:cNvSpPr txBox="1"/>
            <p:nvPr/>
          </p:nvSpPr>
          <p:spPr>
            <a:xfrm>
              <a:off x="5436096" y="2664083"/>
              <a:ext cx="282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Hãng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sản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xuất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ô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tô</a:t>
              </a:r>
              <a:endParaRPr lang="en-US" altLang="ko-KR" sz="16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36097" y="3117037"/>
              <a:ext cx="2821707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cs typeface="Arial" pitchFamily="34" charset="0"/>
                </a:rPr>
                <a:t>Đ</a:t>
              </a:r>
              <a:r>
                <a:rPr lang="vi-VN" altLang="ko-KR" sz="1600">
                  <a:cs typeface="Arial" pitchFamily="34" charset="0"/>
                </a:rPr>
                <a:t>ư</a:t>
              </a:r>
              <a:r>
                <a:rPr lang="en-US" altLang="ko-KR" sz="1600">
                  <a:cs typeface="Arial" pitchFamily="34" charset="0"/>
                </a:rPr>
                <a:t>a </a:t>
              </a:r>
              <a:r>
                <a:rPr lang="en-US" altLang="ko-KR" sz="1600" err="1">
                  <a:cs typeface="Arial" pitchFamily="34" charset="0"/>
                </a:rPr>
                <a:t>đến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khách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hàng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những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thông</a:t>
              </a:r>
              <a:r>
                <a:rPr lang="en-US" altLang="ko-KR" sz="1600">
                  <a:cs typeface="Arial" pitchFamily="34" charset="0"/>
                </a:rPr>
                <a:t> tin </a:t>
              </a:r>
              <a:r>
                <a:rPr lang="en-US" altLang="ko-KR" sz="1600" err="1">
                  <a:cs typeface="Arial" pitchFamily="34" charset="0"/>
                </a:rPr>
                <a:t>của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hãng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cũng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nh</a:t>
              </a:r>
              <a:r>
                <a:rPr lang="vi-VN" altLang="ko-KR" sz="1600">
                  <a:cs typeface="Arial" pitchFamily="34" charset="0"/>
                </a:rPr>
                <a:t>ư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hỗ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trợ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khách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hàng</a:t>
              </a:r>
              <a:r>
                <a:rPr lang="en-US" altLang="ko-KR" sz="1600">
                  <a:cs typeface="Arial" pitchFamily="34" charset="0"/>
                </a:rPr>
                <a:t> qua đ</a:t>
              </a:r>
              <a:r>
                <a:rPr lang="vi-VN" altLang="ko-KR" sz="1600">
                  <a:cs typeface="Arial" pitchFamily="34" charset="0"/>
                </a:rPr>
                <a:t>ư</a:t>
              </a:r>
              <a:r>
                <a:rPr lang="en-US" altLang="ko-KR" sz="1600" err="1">
                  <a:cs typeface="Arial" pitchFamily="34" charset="0"/>
                </a:rPr>
                <a:t>ờng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dây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nóng</a:t>
              </a:r>
              <a:r>
                <a:rPr lang="en-US" altLang="ko-KR" sz="1600">
                  <a:cs typeface="Arial" pitchFamily="34" charset="0"/>
                </a:rPr>
                <a:t>. </a:t>
              </a:r>
            </a:p>
          </p:txBody>
        </p:sp>
      </p:grpSp>
      <p:sp>
        <p:nvSpPr>
          <p:cNvPr id="16" name="Oval 15"/>
          <p:cNvSpPr/>
          <p:nvPr/>
        </p:nvSpPr>
        <p:spPr>
          <a:xfrm>
            <a:off x="2483366" y="3211110"/>
            <a:ext cx="750327" cy="7386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89763" y="1491757"/>
            <a:ext cx="3002115" cy="1357234"/>
            <a:chOff x="5442300" y="3293052"/>
            <a:chExt cx="2821707" cy="1344025"/>
          </a:xfrm>
        </p:grpSpPr>
        <p:sp>
          <p:nvSpPr>
            <p:cNvPr id="18" name="TextBox 17"/>
            <p:cNvSpPr txBox="1"/>
            <p:nvPr/>
          </p:nvSpPr>
          <p:spPr>
            <a:xfrm>
              <a:off x="5442300" y="4301818"/>
              <a:ext cx="2821707" cy="3352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Chủ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sở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hữu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ô </a:t>
              </a:r>
              <a:r>
                <a:rPr lang="en-US" altLang="ko-KR" sz="1600" b="1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tô</a:t>
              </a:r>
              <a:r>
                <a:rPr lang="en-US" altLang="ko-KR" sz="1600" b="1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42300" y="3293052"/>
              <a:ext cx="2821707" cy="82290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       </a:t>
              </a:r>
              <a:r>
                <a:rPr lang="en-US" altLang="ko-KR" sz="1200">
                  <a:cs typeface="Arial" pitchFamily="34" charset="0"/>
                </a:rPr>
                <a:t>  </a:t>
              </a:r>
              <a:r>
                <a:rPr lang="en-US" altLang="ko-KR" sz="1600" err="1">
                  <a:cs typeface="Arial" pitchFamily="34" charset="0"/>
                </a:rPr>
                <a:t>Sử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dụng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các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tiện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ích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trên</a:t>
              </a:r>
              <a:r>
                <a:rPr lang="en-US" altLang="ko-KR" sz="1600">
                  <a:cs typeface="Arial" pitchFamily="34" charset="0"/>
                </a:rPr>
                <a:t> mobile app </a:t>
              </a:r>
              <a:r>
                <a:rPr lang="en-US" altLang="ko-KR" sz="1600" err="1">
                  <a:cs typeface="Arial" pitchFamily="34" charset="0"/>
                </a:rPr>
                <a:t>để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chăm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sóc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và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tìm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hiểu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chiếc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xe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của</a:t>
              </a:r>
              <a:r>
                <a:rPr lang="en-US" altLang="ko-KR" sz="1600">
                  <a:cs typeface="Arial" pitchFamily="34" charset="0"/>
                </a:rPr>
                <a:t> </a:t>
              </a:r>
              <a:r>
                <a:rPr lang="en-US" altLang="ko-KR" sz="1600" err="1">
                  <a:cs typeface="Arial" pitchFamily="34" charset="0"/>
                </a:rPr>
                <a:t>mình</a:t>
              </a:r>
              <a:r>
                <a:rPr lang="en-US" altLang="ko-KR" sz="1200">
                  <a:cs typeface="Arial" pitchFamily="34" charset="0"/>
                </a:rPr>
                <a:t>.</a:t>
              </a:r>
            </a:p>
          </p:txBody>
        </p:sp>
      </p:grp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5F24308B-65F8-49A6-A1C6-56B2B1B54A7E}"/>
              </a:ext>
            </a:extLst>
          </p:cNvPr>
          <p:cNvSpPr/>
          <p:nvPr/>
        </p:nvSpPr>
        <p:spPr>
          <a:xfrm>
            <a:off x="2714513" y="3337139"/>
            <a:ext cx="288032" cy="514300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FE245D-A6BD-4F19-B9E4-7512E408D715}"/>
              </a:ext>
            </a:extLst>
          </p:cNvPr>
          <p:cNvSpPr/>
          <p:nvPr/>
        </p:nvSpPr>
        <p:spPr>
          <a:xfrm>
            <a:off x="5901431" y="1780672"/>
            <a:ext cx="750327" cy="75507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09CF263C-D0DF-4DF9-A44E-C14DD4C45069}"/>
              </a:ext>
            </a:extLst>
          </p:cNvPr>
          <p:cNvSpPr/>
          <p:nvPr/>
        </p:nvSpPr>
        <p:spPr>
          <a:xfrm>
            <a:off x="6080501" y="2021132"/>
            <a:ext cx="392185" cy="360690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76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474624"/>
          </a:xfrm>
        </p:spPr>
        <p:txBody>
          <a:bodyPr/>
          <a:lstStyle/>
          <a:p>
            <a:r>
              <a:rPr lang="en-US" altLang="ko-KR" sz="3000" b="1"/>
              <a:t>Chức năng chính của hệ thống</a:t>
            </a:r>
            <a:endParaRPr lang="ko-KR" altLang="en-US" sz="3000" b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559587"/>
            <a:ext cx="9144000" cy="447279"/>
          </a:xfrm>
        </p:spPr>
        <p:txBody>
          <a:bodyPr/>
          <a:lstStyle/>
          <a:p>
            <a:pPr lvl="0"/>
            <a:r>
              <a:rPr lang="en-US" altLang="ko-KR" sz="2000"/>
              <a:t>Mobile App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685507" y="1811984"/>
            <a:ext cx="2286080" cy="3015344"/>
            <a:chOff x="1685507" y="1811984"/>
            <a:chExt cx="2286080" cy="3015344"/>
          </a:xfrm>
        </p:grpSpPr>
        <p:sp>
          <p:nvSpPr>
            <p:cNvPr id="4" name="Rectangle 3"/>
            <p:cNvSpPr/>
            <p:nvPr/>
          </p:nvSpPr>
          <p:spPr>
            <a:xfrm>
              <a:off x="3863587" y="2091024"/>
              <a:ext cx="108000" cy="273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51587" y="2091024"/>
              <a:ext cx="1620000" cy="10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685507" y="1811984"/>
              <a:ext cx="666080" cy="666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158891" y="1811984"/>
            <a:ext cx="2287256" cy="3015344"/>
            <a:chOff x="5158891" y="1811984"/>
            <a:chExt cx="2287256" cy="3015344"/>
          </a:xfrm>
        </p:grpSpPr>
        <p:sp>
          <p:nvSpPr>
            <p:cNvPr id="7" name="Rectangle 6"/>
            <p:cNvSpPr/>
            <p:nvPr/>
          </p:nvSpPr>
          <p:spPr>
            <a:xfrm>
              <a:off x="5158891" y="2091024"/>
              <a:ext cx="108000" cy="27363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158891" y="2091024"/>
              <a:ext cx="1620000" cy="10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780067" y="1811984"/>
              <a:ext cx="666080" cy="6660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822853" y="3226405"/>
            <a:ext cx="2276381" cy="1600922"/>
            <a:chOff x="4822853" y="3226405"/>
            <a:chExt cx="2276381" cy="1600922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6" name="Rectangle 5"/>
            <p:cNvSpPr/>
            <p:nvPr/>
          </p:nvSpPr>
          <p:spPr>
            <a:xfrm>
              <a:off x="4822853" y="3505444"/>
              <a:ext cx="108000" cy="132188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22853" y="3505445"/>
              <a:ext cx="1620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433154" y="3226405"/>
              <a:ext cx="666080" cy="66608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178948" y="3244253"/>
            <a:ext cx="2128676" cy="1583074"/>
            <a:chOff x="2178948" y="3244253"/>
            <a:chExt cx="2128676" cy="1583074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5" name="Rectangle 4"/>
            <p:cNvSpPr/>
            <p:nvPr/>
          </p:nvSpPr>
          <p:spPr>
            <a:xfrm>
              <a:off x="4199624" y="3505444"/>
              <a:ext cx="108000" cy="132188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87624" y="3505445"/>
              <a:ext cx="1620000" cy="108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178948" y="3244253"/>
              <a:ext cx="666080" cy="66608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73487" y="2432788"/>
            <a:ext cx="256600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Tìm danh sách đại lý ủy quyền gần nhất</a:t>
            </a:r>
            <a:endParaRPr lang="ko-KR" altLang="en-US" sz="1400" b="1"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9956" y="3880742"/>
            <a:ext cx="256600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Xem phụ kiện của hãng và video h</a:t>
            </a:r>
            <a:r>
              <a:rPr lang="vi-VN" altLang="ko-KR" sz="1400" b="1">
                <a:cs typeface="Arial" pitchFamily="34" charset="0"/>
              </a:rPr>
              <a:t>ư</a:t>
            </a:r>
            <a:r>
              <a:rPr lang="en-US" altLang="ko-KR" sz="1400" b="1">
                <a:cs typeface="Arial" pitchFamily="34" charset="0"/>
              </a:rPr>
              <a:t>ớng sử dụng xe</a:t>
            </a:r>
            <a:endParaRPr lang="ko-KR" altLang="en-US" sz="1400" b="1"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63142" y="3943981"/>
            <a:ext cx="256600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Xem thông báo của hãng và kiểm tra triệu hồi</a:t>
            </a:r>
            <a:endParaRPr lang="ko-KR" altLang="en-US" sz="1400" b="1"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5302" y="2468489"/>
            <a:ext cx="212433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Hỗ trợ liên lạc với hãng sản xuất</a:t>
            </a:r>
            <a:endParaRPr lang="ko-KR" altLang="en-US" sz="1400" b="1">
              <a:cs typeface="Arial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4827327"/>
            <a:ext cx="9144000" cy="3161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b="1"/>
              <a:t>Mobile App</a:t>
            </a:r>
          </a:p>
        </p:txBody>
      </p:sp>
      <p:sp>
        <p:nvSpPr>
          <p:cNvPr id="29" name="Rectangle 9"/>
          <p:cNvSpPr/>
          <p:nvPr/>
        </p:nvSpPr>
        <p:spPr>
          <a:xfrm>
            <a:off x="2384560" y="3453241"/>
            <a:ext cx="266311" cy="24929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3"/>
          <p:cNvSpPr/>
          <p:nvPr/>
        </p:nvSpPr>
        <p:spPr>
          <a:xfrm>
            <a:off x="6955127" y="2052096"/>
            <a:ext cx="315959" cy="185855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ectangle 30"/>
          <p:cNvSpPr/>
          <p:nvPr/>
        </p:nvSpPr>
        <p:spPr>
          <a:xfrm>
            <a:off x="1899247" y="2016048"/>
            <a:ext cx="238600" cy="23790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Oval 7"/>
          <p:cNvSpPr/>
          <p:nvPr/>
        </p:nvSpPr>
        <p:spPr>
          <a:xfrm>
            <a:off x="6638447" y="3440559"/>
            <a:ext cx="282969" cy="28296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3" name="Group 42"/>
          <p:cNvGrpSpPr/>
          <p:nvPr/>
        </p:nvGrpSpPr>
        <p:grpSpPr>
          <a:xfrm>
            <a:off x="4233358" y="1310278"/>
            <a:ext cx="666080" cy="3517050"/>
            <a:chOff x="4233358" y="1310278"/>
            <a:chExt cx="666080" cy="3517050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33" name="Rectangle 32"/>
            <p:cNvSpPr/>
            <p:nvPr/>
          </p:nvSpPr>
          <p:spPr>
            <a:xfrm>
              <a:off x="4512398" y="1586968"/>
              <a:ext cx="108000" cy="3240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233358" y="1310278"/>
              <a:ext cx="666080" cy="6660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Rectangle 9"/>
          <p:cNvSpPr/>
          <p:nvPr/>
        </p:nvSpPr>
        <p:spPr>
          <a:xfrm>
            <a:off x="4416116" y="1478674"/>
            <a:ext cx="329824" cy="32928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816391" y="1124115"/>
            <a:ext cx="176768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cs typeface="Arial" pitchFamily="34" charset="0"/>
              </a:rPr>
              <a:t>Tra cứu thông tin xe qua mã VIN</a:t>
            </a:r>
          </a:p>
        </p:txBody>
      </p:sp>
    </p:spTree>
    <p:extLst>
      <p:ext uri="{BB962C8B-B14F-4D97-AF65-F5344CB8AC3E}">
        <p14:creationId xmlns:p14="http://schemas.microsoft.com/office/powerpoint/2010/main" val="145012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9512" y="123478"/>
            <a:ext cx="8964488" cy="442766"/>
          </a:xfrm>
        </p:spPr>
        <p:txBody>
          <a:bodyPr/>
          <a:lstStyle/>
          <a:p>
            <a:r>
              <a:rPr lang="en-US" altLang="ko-KR" sz="3000" b="1" err="1"/>
              <a:t>Chức</a:t>
            </a:r>
            <a:r>
              <a:rPr lang="en-US" altLang="ko-KR" sz="3000" b="1"/>
              <a:t> </a:t>
            </a:r>
            <a:r>
              <a:rPr lang="en-US" altLang="ko-KR" sz="3000" b="1" err="1"/>
              <a:t>năng</a:t>
            </a:r>
            <a:r>
              <a:rPr lang="en-US" altLang="ko-KR" sz="3000" b="1"/>
              <a:t> </a:t>
            </a:r>
            <a:r>
              <a:rPr lang="en-US" altLang="ko-KR" sz="3000" b="1" err="1"/>
              <a:t>chính</a:t>
            </a:r>
            <a:r>
              <a:rPr lang="en-US" altLang="ko-KR" sz="3000" b="1"/>
              <a:t> </a:t>
            </a:r>
            <a:r>
              <a:rPr lang="en-US" altLang="ko-KR" sz="3000" b="1" err="1"/>
              <a:t>của</a:t>
            </a:r>
            <a:r>
              <a:rPr lang="en-US" altLang="ko-KR" sz="3000" b="1"/>
              <a:t> </a:t>
            </a:r>
            <a:r>
              <a:rPr lang="en-US" altLang="ko-KR" sz="3000" b="1" err="1"/>
              <a:t>hệ</a:t>
            </a:r>
            <a:r>
              <a:rPr lang="en-US" altLang="ko-KR" sz="3000" b="1"/>
              <a:t> </a:t>
            </a:r>
            <a:r>
              <a:rPr lang="en-US" altLang="ko-KR" sz="3000" b="1" err="1"/>
              <a:t>thống</a:t>
            </a:r>
            <a:endParaRPr lang="ko-KR" altLang="en-US" sz="3000" b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-180528" y="596647"/>
            <a:ext cx="9144000" cy="598636"/>
          </a:xfrm>
        </p:spPr>
        <p:txBody>
          <a:bodyPr/>
          <a:lstStyle/>
          <a:p>
            <a:pPr lvl="0"/>
            <a:r>
              <a:rPr lang="en-US" altLang="ko-KR" sz="2000" b="1"/>
              <a:t>Website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60116" y="1820181"/>
            <a:ext cx="1915940" cy="999979"/>
            <a:chOff x="3160116" y="1820181"/>
            <a:chExt cx="1915940" cy="999979"/>
          </a:xfrm>
          <a:solidFill>
            <a:schemeClr val="accent2"/>
          </a:solidFill>
        </p:grpSpPr>
        <p:sp>
          <p:nvSpPr>
            <p:cNvPr id="5" name="Rectangle 18"/>
            <p:cNvSpPr/>
            <p:nvPr/>
          </p:nvSpPr>
          <p:spPr>
            <a:xfrm>
              <a:off x="3923928" y="2509439"/>
              <a:ext cx="1152128" cy="310721"/>
            </a:xfrm>
            <a:custGeom>
              <a:avLst/>
              <a:gdLst>
                <a:gd name="connsiteX0" fmla="*/ 0 w 1152128"/>
                <a:gd name="connsiteY0" fmla="*/ 0 h 302769"/>
                <a:gd name="connsiteX1" fmla="*/ 1152128 w 1152128"/>
                <a:gd name="connsiteY1" fmla="*/ 0 h 302769"/>
                <a:gd name="connsiteX2" fmla="*/ 1152128 w 1152128"/>
                <a:gd name="connsiteY2" fmla="*/ 302769 h 302769"/>
                <a:gd name="connsiteX3" fmla="*/ 0 w 1152128"/>
                <a:gd name="connsiteY3" fmla="*/ 302769 h 302769"/>
                <a:gd name="connsiteX4" fmla="*/ 0 w 1152128"/>
                <a:gd name="connsiteY4" fmla="*/ 0 h 302769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341907 w 1152128"/>
                <a:gd name="connsiteY3" fmla="*/ 310721 h 310721"/>
                <a:gd name="connsiteX4" fmla="*/ 0 w 1152128"/>
                <a:gd name="connsiteY4" fmla="*/ 0 h 310721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270345 w 1152128"/>
                <a:gd name="connsiteY3" fmla="*/ 310721 h 310721"/>
                <a:gd name="connsiteX4" fmla="*/ 0 w 1152128"/>
                <a:gd name="connsiteY4" fmla="*/ 0 h 31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128" h="310721">
                  <a:moveTo>
                    <a:pt x="0" y="0"/>
                  </a:moveTo>
                  <a:lnTo>
                    <a:pt x="1152128" y="0"/>
                  </a:lnTo>
                  <a:lnTo>
                    <a:pt x="1152128" y="302769"/>
                  </a:lnTo>
                  <a:lnTo>
                    <a:pt x="270345" y="31072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3160116" y="1820181"/>
              <a:ext cx="1066212" cy="302769"/>
            </a:xfrm>
            <a:custGeom>
              <a:avLst/>
              <a:gdLst>
                <a:gd name="connsiteX0" fmla="*/ 0 w 1066212"/>
                <a:gd name="connsiteY0" fmla="*/ 0 h 302769"/>
                <a:gd name="connsiteX1" fmla="*/ 1066212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23854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212" h="302769">
                  <a:moveTo>
                    <a:pt x="0" y="0"/>
                  </a:moveTo>
                  <a:lnTo>
                    <a:pt x="795868" y="0"/>
                  </a:lnTo>
                  <a:lnTo>
                    <a:pt x="1066212" y="302769"/>
                  </a:lnTo>
                  <a:lnTo>
                    <a:pt x="0" y="302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923928" y="2122949"/>
              <a:ext cx="302400" cy="3889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Group 7"/>
          <p:cNvGrpSpPr/>
          <p:nvPr/>
        </p:nvGrpSpPr>
        <p:grpSpPr>
          <a:xfrm flipH="1">
            <a:off x="3117158" y="3300029"/>
            <a:ext cx="1915940" cy="999979"/>
            <a:chOff x="4313444" y="1103352"/>
            <a:chExt cx="1915940" cy="999979"/>
          </a:xfrm>
          <a:solidFill>
            <a:schemeClr val="accent4"/>
          </a:solidFill>
        </p:grpSpPr>
        <p:sp>
          <p:nvSpPr>
            <p:cNvPr id="9" name="Rectangle 18"/>
            <p:cNvSpPr/>
            <p:nvPr/>
          </p:nvSpPr>
          <p:spPr>
            <a:xfrm>
              <a:off x="5077256" y="1792610"/>
              <a:ext cx="1152128" cy="310721"/>
            </a:xfrm>
            <a:custGeom>
              <a:avLst/>
              <a:gdLst>
                <a:gd name="connsiteX0" fmla="*/ 0 w 1152128"/>
                <a:gd name="connsiteY0" fmla="*/ 0 h 302769"/>
                <a:gd name="connsiteX1" fmla="*/ 1152128 w 1152128"/>
                <a:gd name="connsiteY1" fmla="*/ 0 h 302769"/>
                <a:gd name="connsiteX2" fmla="*/ 1152128 w 1152128"/>
                <a:gd name="connsiteY2" fmla="*/ 302769 h 302769"/>
                <a:gd name="connsiteX3" fmla="*/ 0 w 1152128"/>
                <a:gd name="connsiteY3" fmla="*/ 302769 h 302769"/>
                <a:gd name="connsiteX4" fmla="*/ 0 w 1152128"/>
                <a:gd name="connsiteY4" fmla="*/ 0 h 302769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341907 w 1152128"/>
                <a:gd name="connsiteY3" fmla="*/ 310721 h 310721"/>
                <a:gd name="connsiteX4" fmla="*/ 0 w 1152128"/>
                <a:gd name="connsiteY4" fmla="*/ 0 h 310721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270345 w 1152128"/>
                <a:gd name="connsiteY3" fmla="*/ 310721 h 310721"/>
                <a:gd name="connsiteX4" fmla="*/ 0 w 1152128"/>
                <a:gd name="connsiteY4" fmla="*/ 0 h 31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128" h="310721">
                  <a:moveTo>
                    <a:pt x="0" y="0"/>
                  </a:moveTo>
                  <a:lnTo>
                    <a:pt x="1152128" y="0"/>
                  </a:lnTo>
                  <a:lnTo>
                    <a:pt x="1152128" y="302769"/>
                  </a:lnTo>
                  <a:lnTo>
                    <a:pt x="270345" y="31072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26"/>
            <p:cNvSpPr/>
            <p:nvPr/>
          </p:nvSpPr>
          <p:spPr>
            <a:xfrm>
              <a:off x="4313444" y="1103352"/>
              <a:ext cx="1066212" cy="302769"/>
            </a:xfrm>
            <a:custGeom>
              <a:avLst/>
              <a:gdLst>
                <a:gd name="connsiteX0" fmla="*/ 0 w 1066212"/>
                <a:gd name="connsiteY0" fmla="*/ 0 h 302769"/>
                <a:gd name="connsiteX1" fmla="*/ 1066212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23854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212" h="302769">
                  <a:moveTo>
                    <a:pt x="0" y="0"/>
                  </a:moveTo>
                  <a:lnTo>
                    <a:pt x="795868" y="0"/>
                  </a:lnTo>
                  <a:lnTo>
                    <a:pt x="1066212" y="302769"/>
                  </a:lnTo>
                  <a:lnTo>
                    <a:pt x="0" y="302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77256" y="1406120"/>
              <a:ext cx="302400" cy="3889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Oval 11"/>
          <p:cNvSpPr/>
          <p:nvPr/>
        </p:nvSpPr>
        <p:spPr>
          <a:xfrm>
            <a:off x="2470448" y="1612818"/>
            <a:ext cx="733400" cy="7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2470448" y="2692938"/>
            <a:ext cx="733400" cy="733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2492221" y="3773058"/>
            <a:ext cx="733400" cy="733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30"/>
          <p:cNvSpPr>
            <a:spLocks noChangeAspect="1"/>
          </p:cNvSpPr>
          <p:nvPr/>
        </p:nvSpPr>
        <p:spPr>
          <a:xfrm>
            <a:off x="2697173" y="2911272"/>
            <a:ext cx="279951" cy="2791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0" y="1751199"/>
            <a:ext cx="235804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Đăng các bài viết quảng cáo,khuyễn mãi</a:t>
            </a:r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2805373"/>
            <a:ext cx="200873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Đưa ra các thông tin về loại xe triệu hồi</a:t>
            </a:r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481" y="4007620"/>
            <a:ext cx="185980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Chat </a:t>
            </a:r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Pentagon 26"/>
          <p:cNvSpPr/>
          <p:nvPr/>
        </p:nvSpPr>
        <p:spPr>
          <a:xfrm>
            <a:off x="5796136" y="2509439"/>
            <a:ext cx="1122424" cy="1109594"/>
          </a:xfrm>
          <a:prstGeom prst="homePlate">
            <a:avLst>
              <a:gd name="adj" fmla="val 3835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27"/>
          <p:cNvSpPr/>
          <p:nvPr/>
        </p:nvSpPr>
        <p:spPr>
          <a:xfrm>
            <a:off x="3131840" y="2912851"/>
            <a:ext cx="1928760" cy="302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/>
          <p:cNvSpPr/>
          <p:nvPr/>
        </p:nvSpPr>
        <p:spPr>
          <a:xfrm>
            <a:off x="4716016" y="2347775"/>
            <a:ext cx="1440160" cy="14401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Chevron 29"/>
          <p:cNvSpPr/>
          <p:nvPr/>
        </p:nvSpPr>
        <p:spPr>
          <a:xfrm>
            <a:off x="6549604" y="2505230"/>
            <a:ext cx="614684" cy="1113803"/>
          </a:xfrm>
          <a:prstGeom prst="chevron">
            <a:avLst>
              <a:gd name="adj" fmla="val 7143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36296" y="2849717"/>
            <a:ext cx="151216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Website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4" name="Block Arc 14"/>
          <p:cNvSpPr/>
          <p:nvPr/>
        </p:nvSpPr>
        <p:spPr>
          <a:xfrm rot="16200000">
            <a:off x="5167359" y="2798939"/>
            <a:ext cx="537473" cy="53783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40FD1957-AED1-4593-BEC4-B7BECC43B7B8}"/>
              </a:ext>
            </a:extLst>
          </p:cNvPr>
          <p:cNvSpPr/>
          <p:nvPr/>
        </p:nvSpPr>
        <p:spPr>
          <a:xfrm flipH="1">
            <a:off x="2694324" y="4023009"/>
            <a:ext cx="344621" cy="284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44">
            <a:extLst>
              <a:ext uri="{FF2B5EF4-FFF2-40B4-BE49-F238E27FC236}">
                <a16:creationId xmlns:a16="http://schemas.microsoft.com/office/drawing/2014/main" id="{7B2946DD-7414-4710-AA95-27E7F718D33D}"/>
              </a:ext>
            </a:extLst>
          </p:cNvPr>
          <p:cNvSpPr>
            <a:spLocks noChangeAspect="1"/>
          </p:cNvSpPr>
          <p:nvPr/>
        </p:nvSpPr>
        <p:spPr>
          <a:xfrm>
            <a:off x="2703367" y="1818409"/>
            <a:ext cx="326534" cy="38880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1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>
                <a:solidFill>
                  <a:schemeClr val="tx1"/>
                </a:solidFill>
              </a:rPr>
              <a:t>Nền tảng công nghệ</a:t>
            </a:r>
          </a:p>
        </p:txBody>
      </p:sp>
      <p:cxnSp>
        <p:nvCxnSpPr>
          <p:cNvPr id="5" name="Straight Arrow Connector 4"/>
          <p:cNvCxnSpPr>
            <a:cxnSpLocks/>
            <a:stCxn id="37" idx="0"/>
            <a:endCxn id="9" idx="3"/>
          </p:cNvCxnSpPr>
          <p:nvPr/>
        </p:nvCxnSpPr>
        <p:spPr>
          <a:xfrm flipV="1">
            <a:off x="4611694" y="2317310"/>
            <a:ext cx="1859510" cy="1081362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  <a:stCxn id="37" idx="0"/>
            <a:endCxn id="11" idx="2"/>
          </p:cNvCxnSpPr>
          <p:nvPr/>
        </p:nvCxnSpPr>
        <p:spPr>
          <a:xfrm flipV="1">
            <a:off x="4611694" y="3244118"/>
            <a:ext cx="2504878" cy="154554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  <a:stCxn id="37" idx="0"/>
            <a:endCxn id="10" idx="2"/>
          </p:cNvCxnSpPr>
          <p:nvPr/>
        </p:nvCxnSpPr>
        <p:spPr>
          <a:xfrm>
            <a:off x="4611694" y="3398672"/>
            <a:ext cx="1328168" cy="88284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236441" y="1047696"/>
            <a:ext cx="1603059" cy="148744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5939862" y="3627454"/>
            <a:ext cx="1353287" cy="130813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7116572" y="2479459"/>
            <a:ext cx="1603059" cy="1529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ounded Rectangle 27"/>
          <p:cNvSpPr/>
          <p:nvPr/>
        </p:nvSpPr>
        <p:spPr>
          <a:xfrm>
            <a:off x="6154838" y="2415979"/>
            <a:ext cx="316354" cy="24300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Rectangle 23"/>
          <p:cNvSpPr/>
          <p:nvPr/>
        </p:nvSpPr>
        <p:spPr>
          <a:xfrm>
            <a:off x="6378950" y="3707407"/>
            <a:ext cx="451151" cy="265378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9"/>
          <p:cNvSpPr/>
          <p:nvPr/>
        </p:nvSpPr>
        <p:spPr>
          <a:xfrm>
            <a:off x="6884388" y="1137879"/>
            <a:ext cx="307163" cy="29988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Group 15"/>
          <p:cNvGrpSpPr/>
          <p:nvPr/>
        </p:nvGrpSpPr>
        <p:grpSpPr>
          <a:xfrm>
            <a:off x="7208228" y="2855321"/>
            <a:ext cx="1480841" cy="932147"/>
            <a:chOff x="3152769" y="1746579"/>
            <a:chExt cx="1581957" cy="994181"/>
          </a:xfrm>
        </p:grpSpPr>
        <p:sp>
          <p:nvSpPr>
            <p:cNvPr id="17" name="TextBox 16"/>
            <p:cNvSpPr txBox="1"/>
            <p:nvPr/>
          </p:nvSpPr>
          <p:spPr>
            <a:xfrm>
              <a:off x="3152769" y="1746579"/>
              <a:ext cx="1581957" cy="5232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Google mobile Vision</a:t>
              </a:r>
              <a:endParaRPr lang="ko-KR" altLang="en-US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43489" y="2248372"/>
              <a:ext cx="1400519" cy="492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  <a:cs typeface="Arial" pitchFamily="34" charset="0"/>
                </a:rPr>
                <a:t>Công cụ nhận dạng văn bản </a:t>
              </a:r>
              <a:endParaRPr lang="ko-KR" altLang="en-US" sz="120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20" name="Straight Arrow Connector 19"/>
          <p:cNvCxnSpPr>
            <a:cxnSpLocks/>
            <a:endCxn id="24" idx="3"/>
          </p:cNvCxnSpPr>
          <p:nvPr/>
        </p:nvCxnSpPr>
        <p:spPr>
          <a:xfrm flipH="1" flipV="1">
            <a:off x="2018431" y="2060636"/>
            <a:ext cx="2596534" cy="1220137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endCxn id="26" idx="2"/>
          </p:cNvCxnSpPr>
          <p:nvPr/>
        </p:nvCxnSpPr>
        <p:spPr>
          <a:xfrm flipH="1" flipV="1">
            <a:off x="1749598" y="2946020"/>
            <a:ext cx="2540447" cy="460274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  <a:endCxn id="25" idx="2"/>
          </p:cNvCxnSpPr>
          <p:nvPr/>
        </p:nvCxnSpPr>
        <p:spPr>
          <a:xfrm flipH="1">
            <a:off x="2550579" y="3499237"/>
            <a:ext cx="1503070" cy="812663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 flipH="1">
            <a:off x="925738" y="999587"/>
            <a:ext cx="1280170" cy="1243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24"/>
          <p:cNvSpPr/>
          <p:nvPr/>
        </p:nvSpPr>
        <p:spPr>
          <a:xfrm flipH="1">
            <a:off x="1031103" y="3603778"/>
            <a:ext cx="1519476" cy="14162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25"/>
          <p:cNvSpPr/>
          <p:nvPr/>
        </p:nvSpPr>
        <p:spPr>
          <a:xfrm flipH="1">
            <a:off x="230123" y="2213748"/>
            <a:ext cx="1519475" cy="146454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Group 26"/>
          <p:cNvGrpSpPr/>
          <p:nvPr/>
        </p:nvGrpSpPr>
        <p:grpSpPr>
          <a:xfrm>
            <a:off x="6285007" y="1488558"/>
            <a:ext cx="1505924" cy="762119"/>
            <a:chOff x="286072" y="3045956"/>
            <a:chExt cx="1499266" cy="769080"/>
          </a:xfrm>
        </p:grpSpPr>
        <p:sp>
          <p:nvSpPr>
            <p:cNvPr id="28" name="TextBox 27"/>
            <p:cNvSpPr txBox="1"/>
            <p:nvPr/>
          </p:nvSpPr>
          <p:spPr>
            <a:xfrm>
              <a:off x="286072" y="3045956"/>
              <a:ext cx="1499266" cy="3105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VINDecode API</a:t>
              </a:r>
              <a:endPara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23028" y="3349154"/>
              <a:ext cx="1311000" cy="4658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Dịch vụ giải mã VIN trực tuyến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" name="Rounded Rectangle 27"/>
          <p:cNvSpPr/>
          <p:nvPr/>
        </p:nvSpPr>
        <p:spPr>
          <a:xfrm>
            <a:off x="7759924" y="2608360"/>
            <a:ext cx="316354" cy="24300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Rounded Rectangle 7"/>
          <p:cNvSpPr/>
          <p:nvPr/>
        </p:nvSpPr>
        <p:spPr>
          <a:xfrm>
            <a:off x="1416600" y="1050075"/>
            <a:ext cx="298446" cy="257555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Rectangle 23"/>
          <p:cNvSpPr/>
          <p:nvPr/>
        </p:nvSpPr>
        <p:spPr>
          <a:xfrm>
            <a:off x="789660" y="2269813"/>
            <a:ext cx="451151" cy="265378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33"/>
          <p:cNvSpPr/>
          <p:nvPr/>
        </p:nvSpPr>
        <p:spPr>
          <a:xfrm>
            <a:off x="3712852" y="2594633"/>
            <a:ext cx="1897587" cy="189758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Group 35"/>
          <p:cNvGrpSpPr/>
          <p:nvPr/>
        </p:nvGrpSpPr>
        <p:grpSpPr>
          <a:xfrm>
            <a:off x="3930143" y="3398672"/>
            <a:ext cx="1364351" cy="901140"/>
            <a:chOff x="-475010" y="1084917"/>
            <a:chExt cx="3085230" cy="901140"/>
          </a:xfrm>
        </p:grpSpPr>
        <p:sp>
          <p:nvSpPr>
            <p:cNvPr id="37" name="TextBox 36"/>
            <p:cNvSpPr txBox="1"/>
            <p:nvPr/>
          </p:nvSpPr>
          <p:spPr>
            <a:xfrm>
              <a:off x="-475010" y="1084917"/>
              <a:ext cx="308240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cs typeface="Arial" pitchFamily="34" charset="0"/>
                </a:rPr>
                <a:t>Android</a:t>
              </a:r>
              <a:endParaRPr lang="ko-KR" altLang="en-US" sz="1400" b="1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460976" y="1339726"/>
              <a:ext cx="307119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  <a:cs typeface="Arial" pitchFamily="34" charset="0"/>
                </a:rPr>
                <a:t>Hệ điều hành phổ biến trên mobile</a:t>
              </a:r>
              <a:endParaRPr lang="ko-KR" altLang="en-US" sz="120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45418D47-581C-4FEB-B251-0A425A87B4A1}"/>
              </a:ext>
            </a:extLst>
          </p:cNvPr>
          <p:cNvSpPr/>
          <p:nvPr/>
        </p:nvSpPr>
        <p:spPr>
          <a:xfrm>
            <a:off x="4484000" y="2897030"/>
            <a:ext cx="307032" cy="501642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DF620A-5C55-423F-9E81-453A4BAC4525}"/>
              </a:ext>
            </a:extLst>
          </p:cNvPr>
          <p:cNvSpPr txBox="1"/>
          <p:nvPr/>
        </p:nvSpPr>
        <p:spPr>
          <a:xfrm>
            <a:off x="921694" y="1296779"/>
            <a:ext cx="1311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>
                <a:solidFill>
                  <a:schemeClr val="bg1"/>
                </a:solidFill>
                <a:cs typeface="Arial" pitchFamily="34" charset="0"/>
              </a:rPr>
              <a:t>Youtube Data API v3 và Youtube Android Player API</a:t>
            </a:r>
            <a:endParaRPr lang="ko-KR" altLang="en-US" sz="120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976246-6A37-4733-8444-85D3236CA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14" y="3691633"/>
            <a:ext cx="390163" cy="39016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5E2453B-1283-496E-88A1-9BB05C66733D}"/>
              </a:ext>
            </a:extLst>
          </p:cNvPr>
          <p:cNvSpPr txBox="1"/>
          <p:nvPr/>
        </p:nvSpPr>
        <p:spPr>
          <a:xfrm>
            <a:off x="1100616" y="4034896"/>
            <a:ext cx="1311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>
                <a:solidFill>
                  <a:schemeClr val="bg1"/>
                </a:solidFill>
                <a:cs typeface="Arial" pitchFamily="34" charset="0"/>
              </a:rPr>
              <a:t>Google Map Android API v2 và Google Places API</a:t>
            </a:r>
            <a:endParaRPr lang="ko-KR" altLang="en-US" sz="120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DFE622-25B2-439D-A8F3-B06DBF72048F}"/>
              </a:ext>
            </a:extLst>
          </p:cNvPr>
          <p:cNvGrpSpPr/>
          <p:nvPr/>
        </p:nvGrpSpPr>
        <p:grpSpPr>
          <a:xfrm>
            <a:off x="330560" y="2514269"/>
            <a:ext cx="1339453" cy="1016782"/>
            <a:chOff x="423028" y="2971525"/>
            <a:chExt cx="1333531" cy="102606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B08CC3-BEEB-4C11-A939-F97A209DA801}"/>
                </a:ext>
              </a:extLst>
            </p:cNvPr>
            <p:cNvSpPr txBox="1"/>
            <p:nvPr/>
          </p:nvSpPr>
          <p:spPr>
            <a:xfrm>
              <a:off x="445559" y="2971525"/>
              <a:ext cx="131100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Firebase</a:t>
              </a:r>
              <a:endPara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D1C7C9C-35EE-4865-9A71-9CE065EADF35}"/>
                </a:ext>
              </a:extLst>
            </p:cNvPr>
            <p:cNvSpPr txBox="1"/>
            <p:nvPr/>
          </p:nvSpPr>
          <p:spPr>
            <a:xfrm>
              <a:off x="423028" y="3166596"/>
              <a:ext cx="1311000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Dịch vụ c</a:t>
              </a:r>
              <a:r>
                <a:rPr lang="vi-VN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ơ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sở dữ liệu thời gian thực hoạt động trên đám mây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8F4391-B202-491D-AF11-2F4C8349E9DA}"/>
              </a:ext>
            </a:extLst>
          </p:cNvPr>
          <p:cNvGrpSpPr/>
          <p:nvPr/>
        </p:nvGrpSpPr>
        <p:grpSpPr>
          <a:xfrm>
            <a:off x="5958094" y="3972787"/>
            <a:ext cx="1363165" cy="856542"/>
            <a:chOff x="399421" y="2971526"/>
            <a:chExt cx="1357138" cy="86436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11DEE7D-C84D-4531-A58D-F8B2510DF690}"/>
                </a:ext>
              </a:extLst>
            </p:cNvPr>
            <p:cNvSpPr txBox="1"/>
            <p:nvPr/>
          </p:nvSpPr>
          <p:spPr>
            <a:xfrm>
              <a:off x="445559" y="2971526"/>
              <a:ext cx="1311000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SQL Server</a:t>
              </a:r>
              <a:endPara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15C8331-F580-48C3-9032-CCD9383D5523}"/>
                </a:ext>
              </a:extLst>
            </p:cNvPr>
            <p:cNvSpPr txBox="1"/>
            <p:nvPr/>
          </p:nvSpPr>
          <p:spPr>
            <a:xfrm>
              <a:off x="399421" y="3183656"/>
              <a:ext cx="1311000" cy="6522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Công cụ quản lý dữ liệu đ</a:t>
              </a:r>
              <a:r>
                <a:rPr lang="vi-VN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ư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ợc sử dụng phổ biến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74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000" b="1">
                <a:solidFill>
                  <a:schemeClr val="tx1"/>
                </a:solidFill>
              </a:rPr>
              <a:t>Nền tảng công nghệ</a:t>
            </a:r>
          </a:p>
        </p:txBody>
      </p:sp>
      <p:sp>
        <p:nvSpPr>
          <p:cNvPr id="28" name="Teardrop 27"/>
          <p:cNvSpPr/>
          <p:nvPr/>
        </p:nvSpPr>
        <p:spPr>
          <a:xfrm rot="2700000">
            <a:off x="6356598" y="1401593"/>
            <a:ext cx="1692000" cy="1692000"/>
          </a:xfrm>
          <a:prstGeom prst="teardrop">
            <a:avLst/>
          </a:prstGeom>
          <a:solidFill>
            <a:schemeClr val="accent1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/>
          <p:cNvSpPr/>
          <p:nvPr/>
        </p:nvSpPr>
        <p:spPr>
          <a:xfrm>
            <a:off x="6421939" y="1491593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ardrop 29"/>
          <p:cNvSpPr/>
          <p:nvPr/>
        </p:nvSpPr>
        <p:spPr>
          <a:xfrm rot="2700000">
            <a:off x="3652837" y="1540226"/>
            <a:ext cx="1692000" cy="1692000"/>
          </a:xfrm>
          <a:prstGeom prst="teardrop">
            <a:avLst/>
          </a:prstGeom>
          <a:solidFill>
            <a:schemeClr val="accent2">
              <a:lumMod val="75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30"/>
          <p:cNvSpPr/>
          <p:nvPr/>
        </p:nvSpPr>
        <p:spPr>
          <a:xfrm>
            <a:off x="3742837" y="1630226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ardrop 31"/>
          <p:cNvSpPr/>
          <p:nvPr/>
        </p:nvSpPr>
        <p:spPr>
          <a:xfrm rot="2700000">
            <a:off x="949076" y="1462171"/>
            <a:ext cx="1692000" cy="1692000"/>
          </a:xfrm>
          <a:prstGeom prst="teardrop">
            <a:avLst/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Oval 32"/>
          <p:cNvSpPr/>
          <p:nvPr/>
        </p:nvSpPr>
        <p:spPr>
          <a:xfrm>
            <a:off x="1016956" y="1575169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2273" y="2240480"/>
            <a:ext cx="1340947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Serenity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25499" y="2202418"/>
            <a:ext cx="1315194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ASP.NET Core MVC</a:t>
            </a:r>
          </a:p>
          <a:p>
            <a:pPr algn="ctr"/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Typescript</a:t>
            </a:r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5625" y="2137566"/>
            <a:ext cx="131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SQL Server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6160" y="3143283"/>
            <a:ext cx="28020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/>
              <a:t>-Phù hợp nhất với các ứng dụng kinh   doanh với nhiều hình thức nhập dữ </a:t>
            </a:r>
          </a:p>
          <a:p>
            <a:r>
              <a:rPr lang="en-US" sz="1200"/>
              <a:t>liệu hoặc giao diện quản trị.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-C</a:t>
            </a:r>
            <a:r>
              <a:rPr lang="en-US" sz="1200"/>
              <a:t>ung cấp những tính năng giúp lập    trình viên dễ dàng phát triển hệ thống    của mình một cách nhanh chóng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39283" y="3242023"/>
            <a:ext cx="19524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/>
              <a:t>-Mô hình MVC dễ dàng bảo trì và kiểm thử.</a:t>
            </a:r>
          </a:p>
          <a:p>
            <a:r>
              <a:rPr lang="en-US" altLang="ko-KR" sz="1200"/>
              <a:t>-Hiệu năng cao.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3770" y="3230701"/>
            <a:ext cx="231590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/>
              <a:t>-Hỗ trợ dữ liệu lớn và tính bảo mật cao.</a:t>
            </a:r>
          </a:p>
          <a:p>
            <a:pPr algn="ctr"/>
            <a:r>
              <a:rPr lang="en-US" altLang="ko-KR" sz="1200"/>
              <a:t>-Dễ dàng triển khai và quản lý</a:t>
            </a:r>
          </a:p>
        </p:txBody>
      </p:sp>
      <p:sp>
        <p:nvSpPr>
          <p:cNvPr id="53" name="Rectangle 23"/>
          <p:cNvSpPr/>
          <p:nvPr/>
        </p:nvSpPr>
        <p:spPr>
          <a:xfrm>
            <a:off x="7016651" y="1661558"/>
            <a:ext cx="435738" cy="256312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Oval 7"/>
          <p:cNvSpPr/>
          <p:nvPr/>
        </p:nvSpPr>
        <p:spPr>
          <a:xfrm>
            <a:off x="4291505" y="1745667"/>
            <a:ext cx="390242" cy="3902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DD360-4BAA-4694-A303-6B2A350433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35" y="1703416"/>
            <a:ext cx="390242" cy="39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4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967676" y="2053064"/>
            <a:ext cx="1073" cy="1512000"/>
          </a:xfrm>
          <a:prstGeom prst="line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566189" y="2053064"/>
            <a:ext cx="1073" cy="1512000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164702" y="2053064"/>
            <a:ext cx="1073" cy="151200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07229" y="2053064"/>
            <a:ext cx="0" cy="1512000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369163" y="2053064"/>
            <a:ext cx="0" cy="151200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000"/>
              <a:t>Phân tích thiết kế hệ thống</a:t>
            </a:r>
            <a:endParaRPr lang="ko-KR" altLang="en-US" sz="300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862618"/>
            <a:ext cx="9144000" cy="76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9123" y="2502578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2607636" y="2502578"/>
            <a:ext cx="720080" cy="720080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4206149" y="2502578"/>
            <a:ext cx="720080" cy="720080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5812844" y="2539448"/>
            <a:ext cx="720080" cy="72008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29448" y="1696552"/>
            <a:ext cx="1079430" cy="386227"/>
            <a:chOff x="604227" y="2988665"/>
            <a:chExt cx="1079430" cy="386227"/>
          </a:xfrm>
        </p:grpSpPr>
        <p:sp>
          <p:nvSpPr>
            <p:cNvPr id="16" name="Rounded Rectangle 15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6415" y="2988665"/>
              <a:ext cx="31290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ko-KR" altLang="en-US" sz="18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429034" y="1696552"/>
            <a:ext cx="1079430" cy="386227"/>
            <a:chOff x="604227" y="2988665"/>
            <a:chExt cx="1079430" cy="386227"/>
          </a:xfrm>
        </p:grpSpPr>
        <p:sp>
          <p:nvSpPr>
            <p:cNvPr id="19" name="Rounded Rectangle 18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2904" y="2988665"/>
              <a:ext cx="31290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ko-KR" altLang="en-US" sz="18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028620" y="1696552"/>
            <a:ext cx="1079430" cy="386227"/>
            <a:chOff x="604227" y="2988665"/>
            <a:chExt cx="1079430" cy="386227"/>
          </a:xfrm>
        </p:grpSpPr>
        <p:sp>
          <p:nvSpPr>
            <p:cNvPr id="22" name="Rounded Rectangle 21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2904" y="2988665"/>
              <a:ext cx="31290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ko-KR" altLang="en-US" sz="18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628207" y="1707654"/>
            <a:ext cx="1079430" cy="369332"/>
            <a:chOff x="604227" y="3010206"/>
            <a:chExt cx="1079430" cy="369332"/>
          </a:xfrm>
        </p:grpSpPr>
        <p:sp>
          <p:nvSpPr>
            <p:cNvPr id="25" name="Rounded Rectangle 24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4721" y="3010206"/>
              <a:ext cx="31290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b="1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ko-KR" altLang="en-US" sz="18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1" name="Rectangle 9"/>
          <p:cNvSpPr/>
          <p:nvPr/>
        </p:nvSpPr>
        <p:spPr>
          <a:xfrm>
            <a:off x="6021769" y="2725806"/>
            <a:ext cx="292306" cy="27362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Donut 24"/>
          <p:cNvSpPr/>
          <p:nvPr/>
        </p:nvSpPr>
        <p:spPr>
          <a:xfrm>
            <a:off x="4394514" y="2689546"/>
            <a:ext cx="343349" cy="34614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Rounded Rectangle 27"/>
          <p:cNvSpPr/>
          <p:nvPr/>
        </p:nvSpPr>
        <p:spPr>
          <a:xfrm>
            <a:off x="2819691" y="2722450"/>
            <a:ext cx="325230" cy="24982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Rounded Rectangle 7"/>
          <p:cNvSpPr/>
          <p:nvPr/>
        </p:nvSpPr>
        <p:spPr>
          <a:xfrm>
            <a:off x="1194770" y="2689546"/>
            <a:ext cx="348786" cy="3009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53129" y="3519625"/>
            <a:ext cx="140280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Biểu đồ phân rã chức năng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52715" y="3519625"/>
            <a:ext cx="140280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Mô hình use case hệ thống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852301" y="3611958"/>
            <a:ext cx="140280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Mô hình mạng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51888" y="3519625"/>
            <a:ext cx="140280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Sơ đồ thực thể liên kết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91195" y="3519625"/>
            <a:ext cx="140280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Biểu đồ lớp tổng quan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631FE69-9092-41AD-B008-DC4B2DD985BB}"/>
              </a:ext>
            </a:extLst>
          </p:cNvPr>
          <p:cNvSpPr/>
          <p:nvPr/>
        </p:nvSpPr>
        <p:spPr>
          <a:xfrm>
            <a:off x="7552548" y="2489040"/>
            <a:ext cx="720080" cy="72008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024A97F-377A-4BD4-8456-FCEE7919B41A}"/>
              </a:ext>
            </a:extLst>
          </p:cNvPr>
          <p:cNvGrpSpPr/>
          <p:nvPr/>
        </p:nvGrpSpPr>
        <p:grpSpPr>
          <a:xfrm>
            <a:off x="7389375" y="1707654"/>
            <a:ext cx="1079430" cy="369332"/>
            <a:chOff x="604227" y="3010206"/>
            <a:chExt cx="1079430" cy="369332"/>
          </a:xfrm>
        </p:grpSpPr>
        <p:sp>
          <p:nvSpPr>
            <p:cNvPr id="54" name="Rounded Rectangle 24">
              <a:extLst>
                <a:ext uri="{FF2B5EF4-FFF2-40B4-BE49-F238E27FC236}">
                  <a16:creationId xmlns:a16="http://schemas.microsoft.com/office/drawing/2014/main" id="{B41F2A06-5748-4A03-BAB1-A96F6F8B9EF0}"/>
                </a:ext>
              </a:extLst>
            </p:cNvPr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6A60392-8F09-43D4-9AF8-309A59FE9940}"/>
                </a:ext>
              </a:extLst>
            </p:cNvPr>
            <p:cNvSpPr txBox="1"/>
            <p:nvPr/>
          </p:nvSpPr>
          <p:spPr>
            <a:xfrm>
              <a:off x="964721" y="3010206"/>
              <a:ext cx="31290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>
                  <a:solidFill>
                    <a:schemeClr val="bg1"/>
                  </a:solidFill>
                  <a:cs typeface="Arial" pitchFamily="34" charset="0"/>
                </a:rPr>
                <a:t>5</a:t>
              </a:r>
              <a:endParaRPr lang="ko-KR" altLang="en-US" sz="18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57" name="Oval 21">
            <a:extLst>
              <a:ext uri="{FF2B5EF4-FFF2-40B4-BE49-F238E27FC236}">
                <a16:creationId xmlns:a16="http://schemas.microsoft.com/office/drawing/2014/main" id="{7140C6D4-7946-4653-AC2D-6FE6CE0B61B2}"/>
              </a:ext>
            </a:extLst>
          </p:cNvPr>
          <p:cNvSpPr>
            <a:spLocks noChangeAspect="1"/>
          </p:cNvSpPr>
          <p:nvPr/>
        </p:nvSpPr>
        <p:spPr>
          <a:xfrm>
            <a:off x="7738875" y="2640553"/>
            <a:ext cx="391489" cy="395137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1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45483-98DA-439D-A615-4411A3AB4F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381767"/>
          </a:xfrm>
        </p:spPr>
        <p:txBody>
          <a:bodyPr/>
          <a:lstStyle/>
          <a:p>
            <a:r>
              <a:rPr lang="en-US" sz="3000"/>
              <a:t>Biểu đồ phân rã chức năng</a:t>
            </a:r>
          </a:p>
        </p:txBody>
      </p:sp>
      <p:grpSp>
        <p:nvGrpSpPr>
          <p:cNvPr id="4" name="Canvas 74">
            <a:extLst>
              <a:ext uri="{FF2B5EF4-FFF2-40B4-BE49-F238E27FC236}">
                <a16:creationId xmlns:a16="http://schemas.microsoft.com/office/drawing/2014/main" id="{CE403EA5-1D69-4B43-B7FD-AEC4582566E2}"/>
              </a:ext>
            </a:extLst>
          </p:cNvPr>
          <p:cNvGrpSpPr/>
          <p:nvPr/>
        </p:nvGrpSpPr>
        <p:grpSpPr>
          <a:xfrm>
            <a:off x="1831757" y="1290504"/>
            <a:ext cx="5980603" cy="3684234"/>
            <a:chOff x="65700" y="722925"/>
            <a:chExt cx="5772490" cy="6563701"/>
          </a:xfrm>
        </p:grpSpPr>
        <p:cxnSp>
          <p:nvCxnSpPr>
            <p:cNvPr id="6" name="Straight Connector 43">
              <a:extLst>
                <a:ext uri="{FF2B5EF4-FFF2-40B4-BE49-F238E27FC236}">
                  <a16:creationId xmlns:a16="http://schemas.microsoft.com/office/drawing/2014/main" id="{D64184B4-3F39-46D6-AD34-3734FCD80426}"/>
                </a:ext>
              </a:extLst>
            </p:cNvPr>
            <p:cNvCxnSpPr/>
            <p:nvPr/>
          </p:nvCxnSpPr>
          <p:spPr>
            <a:xfrm rot="10800000" flipV="1">
              <a:off x="266968" y="722925"/>
              <a:ext cx="2095500" cy="742950"/>
            </a:xfrm>
            <a:prstGeom prst="bentConnector3">
              <a:avLst>
                <a:gd name="adj1" fmla="val 98927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44">
              <a:extLst>
                <a:ext uri="{FF2B5EF4-FFF2-40B4-BE49-F238E27FC236}">
                  <a16:creationId xmlns:a16="http://schemas.microsoft.com/office/drawing/2014/main" id="{F22AD89D-F09C-457D-90C1-FCBD8E929F48}"/>
                </a:ext>
              </a:extLst>
            </p:cNvPr>
            <p:cNvCxnSpPr/>
            <p:nvPr/>
          </p:nvCxnSpPr>
          <p:spPr>
            <a:xfrm>
              <a:off x="3428025" y="722926"/>
              <a:ext cx="1990725" cy="742950"/>
            </a:xfrm>
            <a:prstGeom prst="bentConnector3">
              <a:avLst>
                <a:gd name="adj1" fmla="val 99761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2BEB97-8815-4CB0-A367-9FB904F3817F}"/>
                </a:ext>
              </a:extLst>
            </p:cNvPr>
            <p:cNvCxnSpPr/>
            <p:nvPr/>
          </p:nvCxnSpPr>
          <p:spPr>
            <a:xfrm>
              <a:off x="2570775" y="923925"/>
              <a:ext cx="0" cy="5810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2E86AA-8AE5-4559-A3A6-8C8E47254E93}"/>
                </a:ext>
              </a:extLst>
            </p:cNvPr>
            <p:cNvCxnSpPr/>
            <p:nvPr/>
          </p:nvCxnSpPr>
          <p:spPr>
            <a:xfrm>
              <a:off x="3188630" y="913425"/>
              <a:ext cx="0" cy="5629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7EFAD7-6717-4AAC-B696-BCB6A07CEEC8}"/>
                </a:ext>
              </a:extLst>
            </p:cNvPr>
            <p:cNvSpPr/>
            <p:nvPr/>
          </p:nvSpPr>
          <p:spPr>
            <a:xfrm>
              <a:off x="65700" y="1284899"/>
              <a:ext cx="1314450" cy="74295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Thao tác với                tài khoản</a:t>
              </a:r>
            </a:p>
          </p:txBody>
        </p:sp>
        <p:cxnSp>
          <p:nvCxnSpPr>
            <p:cNvPr id="11" name="Straight Connector 46">
              <a:extLst>
                <a:ext uri="{FF2B5EF4-FFF2-40B4-BE49-F238E27FC236}">
                  <a16:creationId xmlns:a16="http://schemas.microsoft.com/office/drawing/2014/main" id="{6DAEE6EE-BBF1-42EA-BA6C-4B073DAF0E7E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rot="16200000" flipH="1">
              <a:off x="-2205393" y="4357065"/>
              <a:ext cx="4838702" cy="106020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DE8FA2-BD7E-4CCE-BE74-3780DDCA1A61}"/>
                </a:ext>
              </a:extLst>
            </p:cNvPr>
            <p:cNvSpPr/>
            <p:nvPr/>
          </p:nvSpPr>
          <p:spPr>
            <a:xfrm>
              <a:off x="256200" y="2170725"/>
              <a:ext cx="1058249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Đăng ký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0A8766-6725-40CB-BA78-E68E1BFFEDBF}"/>
                </a:ext>
              </a:extLst>
            </p:cNvPr>
            <p:cNvSpPr/>
            <p:nvPr/>
          </p:nvSpPr>
          <p:spPr>
            <a:xfrm>
              <a:off x="266967" y="3161325"/>
              <a:ext cx="1036981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Đăng nhập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3B6AD4-04AA-466E-8B84-91ECE7D262EB}"/>
                </a:ext>
              </a:extLst>
            </p:cNvPr>
            <p:cNvSpPr/>
            <p:nvPr/>
          </p:nvSpPr>
          <p:spPr>
            <a:xfrm>
              <a:off x="266967" y="4180501"/>
              <a:ext cx="1058248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Đăng xuất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70C29-B86B-4039-9677-2EDCDF388F79}"/>
                </a:ext>
              </a:extLst>
            </p:cNvPr>
            <p:cNvSpPr/>
            <p:nvPr/>
          </p:nvSpPr>
          <p:spPr>
            <a:xfrm>
              <a:off x="256199" y="5323499"/>
              <a:ext cx="1047748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Khôi phục    tài khoản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8497E71-B8FF-4A1D-9CFC-BB74BC5B621A}"/>
                </a:ext>
              </a:extLst>
            </p:cNvPr>
            <p:cNvSpPr/>
            <p:nvPr/>
          </p:nvSpPr>
          <p:spPr>
            <a:xfrm>
              <a:off x="266968" y="6372226"/>
              <a:ext cx="1058247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Cấp nhật       thông tin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4DF7EA-A443-4AAD-8E96-D42352A6DFB8}"/>
                </a:ext>
              </a:extLst>
            </p:cNvPr>
            <p:cNvSpPr/>
            <p:nvPr/>
          </p:nvSpPr>
          <p:spPr>
            <a:xfrm>
              <a:off x="1656375" y="1335417"/>
              <a:ext cx="1247774" cy="71148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Liên hệ</a:t>
              </a:r>
            </a:p>
          </p:txBody>
        </p:sp>
        <p:cxnSp>
          <p:nvCxnSpPr>
            <p:cNvPr id="18" name="Straight Connector 46">
              <a:extLst>
                <a:ext uri="{FF2B5EF4-FFF2-40B4-BE49-F238E27FC236}">
                  <a16:creationId xmlns:a16="http://schemas.microsoft.com/office/drawing/2014/main" id="{27FC8C53-CBEB-4949-9D4C-1E0C6AF6EAA2}"/>
                </a:ext>
              </a:extLst>
            </p:cNvPr>
            <p:cNvCxnSpPr/>
            <p:nvPr/>
          </p:nvCxnSpPr>
          <p:spPr>
            <a:xfrm rot="16200000" flipH="1">
              <a:off x="832463" y="2947013"/>
              <a:ext cx="1966595" cy="128270"/>
            </a:xfrm>
            <a:prstGeom prst="bentConnector3">
              <a:avLst>
                <a:gd name="adj1" fmla="val 100084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390A7F-2818-4D60-94D2-0DA52E9B19C1}"/>
                </a:ext>
              </a:extLst>
            </p:cNvPr>
            <p:cNvSpPr/>
            <p:nvPr/>
          </p:nvSpPr>
          <p:spPr>
            <a:xfrm>
              <a:off x="1838325" y="2199300"/>
              <a:ext cx="88485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Chat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C176EB-C2A6-493E-A211-58056F3A29D1}"/>
                </a:ext>
              </a:extLst>
            </p:cNvPr>
            <p:cNvSpPr/>
            <p:nvPr/>
          </p:nvSpPr>
          <p:spPr>
            <a:xfrm>
              <a:off x="1827825" y="3285150"/>
              <a:ext cx="91440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Gọi điện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4D9F87-90AE-4189-9EC6-43EB097235CA}"/>
                </a:ext>
              </a:extLst>
            </p:cNvPr>
            <p:cNvSpPr/>
            <p:nvPr/>
          </p:nvSpPr>
          <p:spPr>
            <a:xfrm>
              <a:off x="3104175" y="1284901"/>
              <a:ext cx="1209675" cy="79057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các tiện    ích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DF4A19-089D-4DC6-8B5C-F32B13935DE9}"/>
                </a:ext>
              </a:extLst>
            </p:cNvPr>
            <p:cNvSpPr/>
            <p:nvPr/>
          </p:nvSpPr>
          <p:spPr>
            <a:xfrm>
              <a:off x="3256575" y="2208825"/>
              <a:ext cx="1076323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Tra cứu          thông tin xe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FD99CD-E452-4197-933A-A4EAE0A38EC8}"/>
                </a:ext>
              </a:extLst>
            </p:cNvPr>
            <p:cNvSpPr/>
            <p:nvPr/>
          </p:nvSpPr>
          <p:spPr>
            <a:xfrm>
              <a:off x="3256575" y="3294675"/>
              <a:ext cx="1076323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Tìm danh    sách  đại lý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0F49CB-0DB6-415D-AF74-35E56C453DCA}"/>
                </a:ext>
              </a:extLst>
            </p:cNvPr>
            <p:cNvSpPr/>
            <p:nvPr/>
          </p:nvSpPr>
          <p:spPr>
            <a:xfrm>
              <a:off x="3266100" y="4294801"/>
              <a:ext cx="1057274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Đặt lịch        bảo dưỡng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491707-7A71-4FB2-8B40-87AB7993447E}"/>
                </a:ext>
              </a:extLst>
            </p:cNvPr>
            <p:cNvSpPr/>
            <p:nvPr/>
          </p:nvSpPr>
          <p:spPr>
            <a:xfrm>
              <a:off x="3275625" y="5342550"/>
              <a:ext cx="1057274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phụ      kiện hãng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E0B0E2-3DB5-4ABB-AC49-6CA2F753E9C0}"/>
                </a:ext>
              </a:extLst>
            </p:cNvPr>
            <p:cNvSpPr/>
            <p:nvPr/>
          </p:nvSpPr>
          <p:spPr>
            <a:xfrm>
              <a:off x="3275625" y="6361726"/>
              <a:ext cx="1038225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video  hướng dẫn</a:t>
              </a:r>
            </a:p>
          </p:txBody>
        </p:sp>
        <p:cxnSp>
          <p:nvCxnSpPr>
            <p:cNvPr id="27" name="Straight Connector 46">
              <a:extLst>
                <a:ext uri="{FF2B5EF4-FFF2-40B4-BE49-F238E27FC236}">
                  <a16:creationId xmlns:a16="http://schemas.microsoft.com/office/drawing/2014/main" id="{A3585E8C-4F8A-4637-ACDB-15B180A06494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16200000" flipH="1">
              <a:off x="851363" y="4394664"/>
              <a:ext cx="4761529" cy="8699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810781B-A7F1-4EA7-B523-74C20B574F45}"/>
                </a:ext>
              </a:extLst>
            </p:cNvPr>
            <p:cNvSpPr/>
            <p:nvPr/>
          </p:nvSpPr>
          <p:spPr>
            <a:xfrm>
              <a:off x="4656750" y="1284901"/>
              <a:ext cx="1143000" cy="74294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các bài    đăng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6FEF72-EEF9-4938-9B93-B98680906A4A}"/>
                </a:ext>
              </a:extLst>
            </p:cNvPr>
            <p:cNvSpPr/>
            <p:nvPr/>
          </p:nvSpPr>
          <p:spPr>
            <a:xfrm>
              <a:off x="4847250" y="2227875"/>
              <a:ext cx="990940" cy="91440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các     bài viết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5B558A-FF74-4941-B2C3-36E12B3F8ED0}"/>
                </a:ext>
              </a:extLst>
            </p:cNvPr>
            <p:cNvSpPr/>
            <p:nvPr/>
          </p:nvSpPr>
          <p:spPr>
            <a:xfrm>
              <a:off x="4847250" y="3313725"/>
              <a:ext cx="990940" cy="91440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Xem           khuyễn mãi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90279F-C5B6-4CB1-9292-BD41D5E5C956}"/>
                </a:ext>
              </a:extLst>
            </p:cNvPr>
            <p:cNvSpPr/>
            <p:nvPr/>
          </p:nvSpPr>
          <p:spPr>
            <a:xfrm>
              <a:off x="4847250" y="4313850"/>
              <a:ext cx="990940" cy="8953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Kiểm tra        triệu hồi</a:t>
              </a:r>
            </a:p>
          </p:txBody>
        </p:sp>
        <p:cxnSp>
          <p:nvCxnSpPr>
            <p:cNvPr id="32" name="Straight Connector 46">
              <a:extLst>
                <a:ext uri="{FF2B5EF4-FFF2-40B4-BE49-F238E27FC236}">
                  <a16:creationId xmlns:a16="http://schemas.microsoft.com/office/drawing/2014/main" id="{F84EE749-8E24-402D-A4AE-296EDA73B338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rot="16200000" flipH="1">
              <a:off x="3418988" y="3333263"/>
              <a:ext cx="2770800" cy="85725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8F7D8A1-CA8D-4B82-8B09-E90CAEA420D4}"/>
                </a:ext>
              </a:extLst>
            </p:cNvPr>
            <p:cNvCxnSpPr/>
            <p:nvPr/>
          </p:nvCxnSpPr>
          <p:spPr>
            <a:xfrm>
              <a:off x="160947" y="2646975"/>
              <a:ext cx="1155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C7AA25-1ED1-480C-9C82-36D70EAAD518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60947" y="3618525"/>
              <a:ext cx="10602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FC3803-381F-4EA2-9115-A6F86DECB36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60947" y="4637701"/>
              <a:ext cx="10602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1332A5F-F83C-45E5-AE12-64C8EBBD8D2C}"/>
                </a:ext>
              </a:extLst>
            </p:cNvPr>
            <p:cNvCxnSpPr/>
            <p:nvPr/>
          </p:nvCxnSpPr>
          <p:spPr>
            <a:xfrm>
              <a:off x="171450" y="5780700"/>
              <a:ext cx="11456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55CCEE-450F-4339-83DC-B942FEA0980F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1762125" y="2646975"/>
              <a:ext cx="76200" cy="9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F757D30-246A-4955-95FD-C37BAD24D4EA}"/>
                </a:ext>
              </a:extLst>
            </p:cNvPr>
            <p:cNvCxnSpPr/>
            <p:nvPr/>
          </p:nvCxnSpPr>
          <p:spPr>
            <a:xfrm flipH="1">
              <a:off x="3200400" y="2580300"/>
              <a:ext cx="752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53F0F4-CE45-4AD8-BEBE-559CA084B887}"/>
                </a:ext>
              </a:extLst>
            </p:cNvPr>
            <p:cNvCxnSpPr/>
            <p:nvPr/>
          </p:nvCxnSpPr>
          <p:spPr>
            <a:xfrm>
              <a:off x="3188630" y="3770925"/>
              <a:ext cx="77470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DF0130-3716-48AB-ABD1-032101BF81CC}"/>
                </a:ext>
              </a:extLst>
            </p:cNvPr>
            <p:cNvCxnSpPr/>
            <p:nvPr/>
          </p:nvCxnSpPr>
          <p:spPr>
            <a:xfrm>
              <a:off x="3188630" y="4771050"/>
              <a:ext cx="9652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A42C8B0-1A6D-43FC-AC56-74D25732D30B}"/>
                </a:ext>
              </a:extLst>
            </p:cNvPr>
            <p:cNvCxnSpPr/>
            <p:nvPr/>
          </p:nvCxnSpPr>
          <p:spPr>
            <a:xfrm>
              <a:off x="3188630" y="5837850"/>
              <a:ext cx="1060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021CF15-A37B-46E0-AFA8-1466317287D7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4761525" y="2685075"/>
              <a:ext cx="85725" cy="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4FE338-B93E-4097-A529-8CE7D3BF9E27}"/>
                </a:ext>
              </a:extLst>
            </p:cNvPr>
            <p:cNvCxnSpPr/>
            <p:nvPr/>
          </p:nvCxnSpPr>
          <p:spPr>
            <a:xfrm>
              <a:off x="4761525" y="3761400"/>
              <a:ext cx="1238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CC6F7F15-6A0F-4A1E-8F67-CDB45177B997}"/>
              </a:ext>
            </a:extLst>
          </p:cNvPr>
          <p:cNvSpPr/>
          <p:nvPr/>
        </p:nvSpPr>
        <p:spPr>
          <a:xfrm>
            <a:off x="4176514" y="953627"/>
            <a:ext cx="1146555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Ứng dụng     Car Service</a:t>
            </a:r>
          </a:p>
        </p:txBody>
      </p:sp>
    </p:spTree>
    <p:extLst>
      <p:ext uri="{BB962C8B-B14F-4D97-AF65-F5344CB8AC3E}">
        <p14:creationId xmlns:p14="http://schemas.microsoft.com/office/powerpoint/2010/main" val="306155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5D5C78-AAAE-47C1-BC2D-7C97BFA48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/>
              <a:t>Biểu đồ phân rã chức năng</a:t>
            </a:r>
          </a:p>
        </p:txBody>
      </p:sp>
      <p:grpSp>
        <p:nvGrpSpPr>
          <p:cNvPr id="4" name="Canvas 8">
            <a:extLst>
              <a:ext uri="{FF2B5EF4-FFF2-40B4-BE49-F238E27FC236}">
                <a16:creationId xmlns:a16="http://schemas.microsoft.com/office/drawing/2014/main" id="{1391B11C-3BEA-403C-B576-4CD3ADF6EAF9}"/>
              </a:ext>
            </a:extLst>
          </p:cNvPr>
          <p:cNvGrpSpPr/>
          <p:nvPr/>
        </p:nvGrpSpPr>
        <p:grpSpPr>
          <a:xfrm>
            <a:off x="3025337" y="1359625"/>
            <a:ext cx="3289173" cy="3327621"/>
            <a:chOff x="970575" y="456225"/>
            <a:chExt cx="3848100" cy="54387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59D4D6-E15C-40A5-9544-2ED31A496ED7}"/>
                </a:ext>
              </a:extLst>
            </p:cNvPr>
            <p:cNvSpPr/>
            <p:nvPr/>
          </p:nvSpPr>
          <p:spPr>
            <a:xfrm>
              <a:off x="2313600" y="456225"/>
              <a:ext cx="1247775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WebApp</a:t>
              </a:r>
            </a:p>
          </p:txBody>
        </p:sp>
        <p:cxnSp>
          <p:nvCxnSpPr>
            <p:cNvPr id="7" name="Straight Connector 43">
              <a:extLst>
                <a:ext uri="{FF2B5EF4-FFF2-40B4-BE49-F238E27FC236}">
                  <a16:creationId xmlns:a16="http://schemas.microsoft.com/office/drawing/2014/main" id="{56B5B5A8-AC57-4F65-B4CC-3B67C8074F57}"/>
                </a:ext>
              </a:extLst>
            </p:cNvPr>
            <p:cNvCxnSpPr/>
            <p:nvPr/>
          </p:nvCxnSpPr>
          <p:spPr>
            <a:xfrm rot="10800000" flipV="1">
              <a:off x="1589700" y="913425"/>
              <a:ext cx="714375" cy="1095375"/>
            </a:xfrm>
            <a:prstGeom prst="bentConnector3">
              <a:avLst>
                <a:gd name="adj1" fmla="val 98927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43">
              <a:extLst>
                <a:ext uri="{FF2B5EF4-FFF2-40B4-BE49-F238E27FC236}">
                  <a16:creationId xmlns:a16="http://schemas.microsoft.com/office/drawing/2014/main" id="{B9491BE9-1776-4845-80C1-03DEAF4E842A}"/>
                </a:ext>
              </a:extLst>
            </p:cNvPr>
            <p:cNvCxnSpPr/>
            <p:nvPr/>
          </p:nvCxnSpPr>
          <p:spPr>
            <a:xfrm rot="10800000" flipH="1" flipV="1">
              <a:off x="3570900" y="913425"/>
              <a:ext cx="685800" cy="1038225"/>
            </a:xfrm>
            <a:prstGeom prst="bentConnector3">
              <a:avLst>
                <a:gd name="adj1" fmla="val 98927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3154C0-F3A9-4E4D-B400-FCD318E747B8}"/>
                </a:ext>
              </a:extLst>
            </p:cNvPr>
            <p:cNvSpPr/>
            <p:nvPr/>
          </p:nvSpPr>
          <p:spPr>
            <a:xfrm>
              <a:off x="970575" y="1856400"/>
              <a:ext cx="125730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Thao tác bài viết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A9FE32-C4CF-45E8-B557-65A4DF0C32E2}"/>
                </a:ext>
              </a:extLst>
            </p:cNvPr>
            <p:cNvSpPr/>
            <p:nvPr/>
          </p:nvSpPr>
          <p:spPr>
            <a:xfrm>
              <a:off x="3685200" y="1884975"/>
              <a:ext cx="1133475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Chat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E044C4-6A39-462A-B9F0-45C8A51C46D8}"/>
                </a:ext>
              </a:extLst>
            </p:cNvPr>
            <p:cNvSpPr/>
            <p:nvPr/>
          </p:nvSpPr>
          <p:spPr>
            <a:xfrm>
              <a:off x="1151550" y="2847000"/>
              <a:ext cx="91440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Thêm    bài viết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2CD3E6-FCE9-4523-A619-81BE250C7659}"/>
                </a:ext>
              </a:extLst>
            </p:cNvPr>
            <p:cNvSpPr/>
            <p:nvPr/>
          </p:nvSpPr>
          <p:spPr>
            <a:xfrm>
              <a:off x="1151550" y="3866175"/>
              <a:ext cx="91440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Sửa bài viết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9E2AF4-2AE3-46D0-AE57-AE57E5FC95A8}"/>
                </a:ext>
              </a:extLst>
            </p:cNvPr>
            <p:cNvSpPr/>
            <p:nvPr/>
          </p:nvSpPr>
          <p:spPr>
            <a:xfrm>
              <a:off x="1132500" y="4980600"/>
              <a:ext cx="914400" cy="9144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Xóa bài viết</a:t>
              </a:r>
            </a:p>
          </p:txBody>
        </p:sp>
        <p:cxnSp>
          <p:nvCxnSpPr>
            <p:cNvPr id="14" name="Straight Connector 46">
              <a:extLst>
                <a:ext uri="{FF2B5EF4-FFF2-40B4-BE49-F238E27FC236}">
                  <a16:creationId xmlns:a16="http://schemas.microsoft.com/office/drawing/2014/main" id="{A1D78576-95AE-4A7B-B909-84E1632D04F9}"/>
                </a:ext>
              </a:extLst>
            </p:cNvPr>
            <p:cNvCxnSpPr>
              <a:endCxn id="13" idx="1"/>
            </p:cNvCxnSpPr>
            <p:nvPr/>
          </p:nvCxnSpPr>
          <p:spPr>
            <a:xfrm rot="16200000" flipH="1">
              <a:off x="-272437" y="4032862"/>
              <a:ext cx="2714625" cy="95250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1E361-811E-455E-BE2A-B64B12CEC9A0}"/>
                </a:ext>
              </a:extLst>
            </p:cNvPr>
            <p:cNvCxnSpPr/>
            <p:nvPr/>
          </p:nvCxnSpPr>
          <p:spPr>
            <a:xfrm>
              <a:off x="1037250" y="3361350"/>
              <a:ext cx="132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A0105B-EEB9-4F05-8170-F7D4A1DBCCB1}"/>
                </a:ext>
              </a:extLst>
            </p:cNvPr>
            <p:cNvCxnSpPr/>
            <p:nvPr/>
          </p:nvCxnSpPr>
          <p:spPr>
            <a:xfrm>
              <a:off x="1037250" y="4322400"/>
              <a:ext cx="151130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32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58DE28-1197-47BC-BE37-44D7A706CE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/>
              <a:t>Mô hình usecase của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45AF1-B774-4669-A738-D0A40BD9B2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55676" y="1183060"/>
            <a:ext cx="583264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06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F1115-9B25-4871-AE3F-B6795484F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/>
              <a:t>Mô hình mạng</a:t>
            </a:r>
          </a:p>
        </p:txBody>
      </p:sp>
      <p:grpSp>
        <p:nvGrpSpPr>
          <p:cNvPr id="4" name="Canvas 75">
            <a:extLst>
              <a:ext uri="{FF2B5EF4-FFF2-40B4-BE49-F238E27FC236}">
                <a16:creationId xmlns:a16="http://schemas.microsoft.com/office/drawing/2014/main" id="{1FFC1281-5DA9-4E78-9B5E-34E7C96C1052}"/>
              </a:ext>
            </a:extLst>
          </p:cNvPr>
          <p:cNvGrpSpPr/>
          <p:nvPr/>
        </p:nvGrpSpPr>
        <p:grpSpPr>
          <a:xfrm>
            <a:off x="1979712" y="1203598"/>
            <a:ext cx="5454233" cy="3585383"/>
            <a:chOff x="0" y="0"/>
            <a:chExt cx="5723890" cy="47224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F7BAD8-4C54-4829-96E5-8DEC4995A25A}"/>
                </a:ext>
              </a:extLst>
            </p:cNvPr>
            <p:cNvSpPr/>
            <p:nvPr/>
          </p:nvSpPr>
          <p:spPr>
            <a:xfrm>
              <a:off x="0" y="0"/>
              <a:ext cx="5723890" cy="472249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sp>
        <p:cxnSp>
          <p:nvCxnSpPr>
            <p:cNvPr id="6" name="AutoShape 88">
              <a:extLst>
                <a:ext uri="{FF2B5EF4-FFF2-40B4-BE49-F238E27FC236}">
                  <a16:creationId xmlns:a16="http://schemas.microsoft.com/office/drawing/2014/main" id="{15DCD9B3-110C-45C2-B9E5-53ABE56C9F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27240" y="2323124"/>
              <a:ext cx="1228725" cy="118110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" name="AutoShape 88">
              <a:extLst>
                <a:ext uri="{FF2B5EF4-FFF2-40B4-BE49-F238E27FC236}">
                  <a16:creationId xmlns:a16="http://schemas.microsoft.com/office/drawing/2014/main" id="{9E725AB9-9542-483E-A2EE-36C0E0EECA72}"/>
                </a:ext>
              </a:extLst>
            </p:cNvPr>
            <p:cNvCxnSpPr>
              <a:cxnSpLocks noChangeShapeType="1"/>
              <a:endCxn id="12" idx="0"/>
            </p:cNvCxnSpPr>
            <p:nvPr/>
          </p:nvCxnSpPr>
          <p:spPr bwMode="auto">
            <a:xfrm flipH="1">
              <a:off x="751500" y="2380274"/>
              <a:ext cx="1113156" cy="102870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" name="AutoShape 88">
              <a:extLst>
                <a:ext uri="{FF2B5EF4-FFF2-40B4-BE49-F238E27FC236}">
                  <a16:creationId xmlns:a16="http://schemas.microsoft.com/office/drawing/2014/main" id="{49968474-D4D0-428B-99A7-977F693D8C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265340" y="1008674"/>
              <a:ext cx="904875" cy="1000125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B7CE27-450D-4E31-93B7-20A46E81CF6D}"/>
                </a:ext>
              </a:extLst>
            </p:cNvPr>
            <p:cNvSpPr/>
            <p:nvPr/>
          </p:nvSpPr>
          <p:spPr>
            <a:xfrm>
              <a:off x="3151800" y="503849"/>
              <a:ext cx="2124075" cy="82867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4240D89F-59B8-4763-AA1B-761E86B8C1B7}"/>
                </a:ext>
              </a:extLst>
            </p:cNvPr>
            <p:cNvSpPr/>
            <p:nvPr/>
          </p:nvSpPr>
          <p:spPr>
            <a:xfrm>
              <a:off x="4371000" y="627674"/>
              <a:ext cx="851803" cy="5715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Database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7AB16DA-67ED-4898-A80C-FA32ECC88A16}"/>
                </a:ext>
              </a:extLst>
            </p:cNvPr>
            <p:cNvSpPr/>
            <p:nvPr/>
          </p:nvSpPr>
          <p:spPr>
            <a:xfrm>
              <a:off x="3217840" y="637199"/>
              <a:ext cx="1038225" cy="50482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Webservice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7FFA73-BFE1-4802-B66B-ED721CF861E4}"/>
                </a:ext>
              </a:extLst>
            </p:cNvPr>
            <p:cNvSpPr/>
            <p:nvPr/>
          </p:nvSpPr>
          <p:spPr>
            <a:xfrm>
              <a:off x="151425" y="3408974"/>
              <a:ext cx="1200150" cy="73342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vindecoder.eu</a:t>
              </a:r>
            </a:p>
          </p:txBody>
        </p:sp>
        <p:pic>
          <p:nvPicPr>
            <p:cNvPr id="13" name="Picture 12" descr="C:\Users\Quang\Desktop\New folder\touchicon-180.png">
              <a:extLst>
                <a:ext uri="{FF2B5EF4-FFF2-40B4-BE49-F238E27FC236}">
                  <a16:creationId xmlns:a16="http://schemas.microsoft.com/office/drawing/2014/main" id="{A12D19F3-ACD9-4DC3-AA7F-924BEA4B784F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126" y="3389289"/>
              <a:ext cx="675299" cy="7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CAF6E1-C8C6-4744-A8F8-EF2F4513D5D2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100" y="475274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B1D160-FA94-459C-BED3-6ED8F53F5342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000" y="1846874"/>
              <a:ext cx="704850" cy="704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22FFD40-0886-4800-AF31-CF2F73769A41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9125" y="1922438"/>
              <a:ext cx="628650" cy="740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Text Box 84">
              <a:extLst>
                <a:ext uri="{FF2B5EF4-FFF2-40B4-BE49-F238E27FC236}">
                  <a16:creationId xmlns:a16="http://schemas.microsoft.com/office/drawing/2014/main" id="{0FB0E24E-A553-4CCA-A86F-F18AC7EA73C3}"/>
                </a:ext>
              </a:extLst>
            </p:cNvPr>
            <p:cNvSpPr txBox="1"/>
            <p:nvPr/>
          </p:nvSpPr>
          <p:spPr>
            <a:xfrm>
              <a:off x="3267075" y="3971924"/>
              <a:ext cx="876301" cy="4572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Firebase</a:t>
              </a:r>
            </a:p>
          </p:txBody>
        </p:sp>
        <p:sp>
          <p:nvSpPr>
            <p:cNvPr id="18" name="Text Box 84">
              <a:extLst>
                <a:ext uri="{FF2B5EF4-FFF2-40B4-BE49-F238E27FC236}">
                  <a16:creationId xmlns:a16="http://schemas.microsoft.com/office/drawing/2014/main" id="{7B1C4A60-A132-4EC4-ACC6-71D0C8A49918}"/>
                </a:ext>
              </a:extLst>
            </p:cNvPr>
            <p:cNvSpPr txBox="1"/>
            <p:nvPr/>
          </p:nvSpPr>
          <p:spPr>
            <a:xfrm>
              <a:off x="180000" y="180000"/>
              <a:ext cx="1039200" cy="4572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Google API</a:t>
              </a:r>
            </a:p>
          </p:txBody>
        </p:sp>
        <p:sp>
          <p:nvSpPr>
            <p:cNvPr id="19" name="Text Box 84">
              <a:extLst>
                <a:ext uri="{FF2B5EF4-FFF2-40B4-BE49-F238E27FC236}">
                  <a16:creationId xmlns:a16="http://schemas.microsoft.com/office/drawing/2014/main" id="{2E9EC5F2-33ED-4372-80A7-406C7E521522}"/>
                </a:ext>
              </a:extLst>
            </p:cNvPr>
            <p:cNvSpPr txBox="1"/>
            <p:nvPr/>
          </p:nvSpPr>
          <p:spPr>
            <a:xfrm>
              <a:off x="3856650" y="160949"/>
              <a:ext cx="876300" cy="4572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Server</a:t>
              </a:r>
            </a:p>
          </p:txBody>
        </p:sp>
        <p:sp>
          <p:nvSpPr>
            <p:cNvPr id="20" name="Text Box 84">
              <a:extLst>
                <a:ext uri="{FF2B5EF4-FFF2-40B4-BE49-F238E27FC236}">
                  <a16:creationId xmlns:a16="http://schemas.microsoft.com/office/drawing/2014/main" id="{9F085C62-C925-4B96-B88A-F5A5B981F12B}"/>
                </a:ext>
              </a:extLst>
            </p:cNvPr>
            <p:cNvSpPr txBox="1"/>
            <p:nvPr/>
          </p:nvSpPr>
          <p:spPr>
            <a:xfrm>
              <a:off x="132375" y="4029075"/>
              <a:ext cx="1200149" cy="46609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Web Crawler</a:t>
              </a:r>
            </a:p>
          </p:txBody>
        </p:sp>
        <p:sp>
          <p:nvSpPr>
            <p:cNvPr id="21" name="Text Box 84">
              <a:extLst>
                <a:ext uri="{FF2B5EF4-FFF2-40B4-BE49-F238E27FC236}">
                  <a16:creationId xmlns:a16="http://schemas.microsoft.com/office/drawing/2014/main" id="{52D43AD7-535C-4400-8D77-094EDBAC0335}"/>
                </a:ext>
              </a:extLst>
            </p:cNvPr>
            <p:cNvSpPr txBox="1"/>
            <p:nvPr/>
          </p:nvSpPr>
          <p:spPr>
            <a:xfrm>
              <a:off x="1571625" y="1465239"/>
              <a:ext cx="1143000" cy="4572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Car Service</a:t>
              </a:r>
            </a:p>
          </p:txBody>
        </p:sp>
        <p:sp>
          <p:nvSpPr>
            <p:cNvPr id="22" name="Text Box 84">
              <a:extLst>
                <a:ext uri="{FF2B5EF4-FFF2-40B4-BE49-F238E27FC236}">
                  <a16:creationId xmlns:a16="http://schemas.microsoft.com/office/drawing/2014/main" id="{02914ED5-C96F-45A1-B762-5BEBD9CF27AB}"/>
                </a:ext>
              </a:extLst>
            </p:cNvPr>
            <p:cNvSpPr txBox="1"/>
            <p:nvPr/>
          </p:nvSpPr>
          <p:spPr>
            <a:xfrm>
              <a:off x="4381500" y="2518719"/>
              <a:ext cx="1157062" cy="45720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Trình duyệt</a:t>
              </a:r>
            </a:p>
          </p:txBody>
        </p:sp>
        <p:cxnSp>
          <p:nvCxnSpPr>
            <p:cNvPr id="23" name="AutoShape 88">
              <a:extLst>
                <a:ext uri="{FF2B5EF4-FFF2-40B4-BE49-F238E27FC236}">
                  <a16:creationId xmlns:a16="http://schemas.microsoft.com/office/drawing/2014/main" id="{08BB58C6-6C3C-4108-8151-3268F4795B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33900" y="3905072"/>
              <a:ext cx="837074" cy="0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sp>
          <p:nvSpPr>
            <p:cNvPr id="24" name="Text Box 84">
              <a:extLst>
                <a:ext uri="{FF2B5EF4-FFF2-40B4-BE49-F238E27FC236}">
                  <a16:creationId xmlns:a16="http://schemas.microsoft.com/office/drawing/2014/main" id="{AD4B75E8-0311-4A91-8AAA-78500DB65D82}"/>
                </a:ext>
              </a:extLst>
            </p:cNvPr>
            <p:cNvSpPr txBox="1"/>
            <p:nvPr/>
          </p:nvSpPr>
          <p:spPr>
            <a:xfrm>
              <a:off x="4381500" y="3931422"/>
              <a:ext cx="1223737" cy="45656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13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Kết nối mạng</a:t>
              </a:r>
            </a:p>
          </p:txBody>
        </p:sp>
        <p:cxnSp>
          <p:nvCxnSpPr>
            <p:cNvPr id="25" name="AutoShape 88">
              <a:extLst>
                <a:ext uri="{FF2B5EF4-FFF2-40B4-BE49-F238E27FC236}">
                  <a16:creationId xmlns:a16="http://schemas.microsoft.com/office/drawing/2014/main" id="{3C842DEE-6FC7-439B-8CDC-604ED72AD4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1334" y="1104766"/>
              <a:ext cx="1113116" cy="1009784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88">
              <a:extLst>
                <a:ext uri="{FF2B5EF4-FFF2-40B4-BE49-F238E27FC236}">
                  <a16:creationId xmlns:a16="http://schemas.microsoft.com/office/drawing/2014/main" id="{7CB650D7-3D26-4216-8B77-D901850DB2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71482" y="1332363"/>
              <a:ext cx="976590" cy="740757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45285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1D6A21-B99A-41FC-9847-08BE933C8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/>
              <a:t>S</a:t>
            </a:r>
            <a:r>
              <a:rPr lang="vi-VN" sz="3000"/>
              <a:t>ơ</a:t>
            </a:r>
            <a:r>
              <a:rPr lang="en-US" sz="3000"/>
              <a:t> đồ liên kết thực thể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EED0DE-E744-41FE-835E-677EBBFE069B}"/>
              </a:ext>
            </a:extLst>
          </p:cNvPr>
          <p:cNvSpPr/>
          <p:nvPr/>
        </p:nvSpPr>
        <p:spPr>
          <a:xfrm>
            <a:off x="6385354" y="762372"/>
            <a:ext cx="1285874" cy="179506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Schedules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idVin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accessory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idUser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7F36C-A13F-4B0A-AA85-262B55C2BB72}"/>
              </a:ext>
            </a:extLst>
          </p:cNvPr>
          <p:cNvSpPr/>
          <p:nvPr/>
        </p:nvSpPr>
        <p:spPr>
          <a:xfrm>
            <a:off x="1037529" y="892434"/>
            <a:ext cx="1114425" cy="116205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Vins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category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idUser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vinCode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967E6-5CA2-4C3C-A3D6-D6ECF84FB84B}"/>
              </a:ext>
            </a:extLst>
          </p:cNvPr>
          <p:cNvSpPr/>
          <p:nvPr/>
        </p:nvSpPr>
        <p:spPr>
          <a:xfrm>
            <a:off x="3487916" y="1491452"/>
            <a:ext cx="1023938" cy="169545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Users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email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firstName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lastName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password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20E385-6540-4488-9D79-3464FC550940}"/>
              </a:ext>
            </a:extLst>
          </p:cNvPr>
          <p:cNvSpPr/>
          <p:nvPr/>
        </p:nvSpPr>
        <p:spPr>
          <a:xfrm>
            <a:off x="742551" y="2461649"/>
            <a:ext cx="1247476" cy="109696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Messages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user_id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43DCB-2A3B-4557-B0C8-10505FDDADAC}"/>
              </a:ext>
            </a:extLst>
          </p:cNvPr>
          <p:cNvSpPr/>
          <p:nvPr/>
        </p:nvSpPr>
        <p:spPr>
          <a:xfrm>
            <a:off x="6853377" y="2794700"/>
            <a:ext cx="1285875" cy="22193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Posts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TenantID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ModifiedDate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ModifiedBy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Status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Subject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MainContent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5E939-BDD6-403F-A938-A3D10F49331D}"/>
              </a:ext>
            </a:extLst>
          </p:cNvPr>
          <p:cNvSpPr/>
          <p:nvPr/>
        </p:nvSpPr>
        <p:spPr>
          <a:xfrm>
            <a:off x="875602" y="3841674"/>
            <a:ext cx="1114425" cy="11049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Vehicles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Year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Lot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A65F66-8938-44FF-B064-FD97F48D5DCF}"/>
              </a:ext>
            </a:extLst>
          </p:cNvPr>
          <p:cNvSpPr/>
          <p:nvPr/>
        </p:nvSpPr>
        <p:spPr>
          <a:xfrm>
            <a:off x="3201439" y="3877030"/>
            <a:ext cx="1502340" cy="1095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Post2Vehicles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VehicleId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34E18E-CDCA-4655-B881-793D64339F65}"/>
              </a:ext>
            </a:extLst>
          </p:cNvPr>
          <p:cNvCxnSpPr>
            <a:cxnSpLocks/>
          </p:cNvCxnSpPr>
          <p:nvPr/>
        </p:nvCxnSpPr>
        <p:spPr>
          <a:xfrm>
            <a:off x="2151954" y="1151832"/>
            <a:ext cx="4229877" cy="155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4D2C3A-D737-4445-A1CD-4ED9C153F9B1}"/>
              </a:ext>
            </a:extLst>
          </p:cNvPr>
          <p:cNvCxnSpPr>
            <a:cxnSpLocks/>
          </p:cNvCxnSpPr>
          <p:nvPr/>
        </p:nvCxnSpPr>
        <p:spPr>
          <a:xfrm flipV="1">
            <a:off x="1962326" y="1898599"/>
            <a:ext cx="1515684" cy="12883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F3554-35F6-4537-9C5A-E43E192DF682}"/>
              </a:ext>
            </a:extLst>
          </p:cNvPr>
          <p:cNvCxnSpPr>
            <a:cxnSpLocks/>
          </p:cNvCxnSpPr>
          <p:nvPr/>
        </p:nvCxnSpPr>
        <p:spPr>
          <a:xfrm>
            <a:off x="1990027" y="4164540"/>
            <a:ext cx="1211412" cy="4603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4BB8B4-D95F-4538-AEE8-6551B2D4D8CF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4703779" y="3904363"/>
            <a:ext cx="2149598" cy="520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Box 168">
            <a:extLst>
              <a:ext uri="{FF2B5EF4-FFF2-40B4-BE49-F238E27FC236}">
                <a16:creationId xmlns:a16="http://schemas.microsoft.com/office/drawing/2014/main" id="{8982C02F-55CB-4F6D-8B38-69114E2B217F}"/>
              </a:ext>
            </a:extLst>
          </p:cNvPr>
          <p:cNvSpPr txBox="1"/>
          <p:nvPr/>
        </p:nvSpPr>
        <p:spPr>
          <a:xfrm>
            <a:off x="6182660" y="1281238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26" name="Text Box 172">
            <a:extLst>
              <a:ext uri="{FF2B5EF4-FFF2-40B4-BE49-F238E27FC236}">
                <a16:creationId xmlns:a16="http://schemas.microsoft.com/office/drawing/2014/main" id="{40159D84-B1C5-4EBB-BE46-D4F182FEE8EC}"/>
              </a:ext>
            </a:extLst>
          </p:cNvPr>
          <p:cNvSpPr txBox="1"/>
          <p:nvPr/>
        </p:nvSpPr>
        <p:spPr>
          <a:xfrm>
            <a:off x="2082945" y="1121189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29" name="Text Box 84">
            <a:extLst>
              <a:ext uri="{FF2B5EF4-FFF2-40B4-BE49-F238E27FC236}">
                <a16:creationId xmlns:a16="http://schemas.microsoft.com/office/drawing/2014/main" id="{032B9C88-ADE7-4FE2-9293-4F1FB51A4628}"/>
              </a:ext>
            </a:extLst>
          </p:cNvPr>
          <p:cNvSpPr txBox="1"/>
          <p:nvPr/>
        </p:nvSpPr>
        <p:spPr>
          <a:xfrm>
            <a:off x="3523682" y="1253310"/>
            <a:ext cx="987733" cy="45825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Firebase</a:t>
            </a:r>
          </a:p>
        </p:txBody>
      </p:sp>
      <p:sp>
        <p:nvSpPr>
          <p:cNvPr id="30" name="Text Box 84">
            <a:extLst>
              <a:ext uri="{FF2B5EF4-FFF2-40B4-BE49-F238E27FC236}">
                <a16:creationId xmlns:a16="http://schemas.microsoft.com/office/drawing/2014/main" id="{FAE0B6A4-40D5-40AE-ADC7-7E833A44CB5F}"/>
              </a:ext>
            </a:extLst>
          </p:cNvPr>
          <p:cNvSpPr txBox="1"/>
          <p:nvPr/>
        </p:nvSpPr>
        <p:spPr>
          <a:xfrm>
            <a:off x="898685" y="3578347"/>
            <a:ext cx="1028700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SQL</a:t>
            </a:r>
          </a:p>
        </p:txBody>
      </p:sp>
      <p:sp>
        <p:nvSpPr>
          <p:cNvPr id="31" name="Text Box 84">
            <a:extLst>
              <a:ext uri="{FF2B5EF4-FFF2-40B4-BE49-F238E27FC236}">
                <a16:creationId xmlns:a16="http://schemas.microsoft.com/office/drawing/2014/main" id="{91F64FE5-7BAF-4C24-BCAF-F4ECF5745B5B}"/>
              </a:ext>
            </a:extLst>
          </p:cNvPr>
          <p:cNvSpPr txBox="1"/>
          <p:nvPr/>
        </p:nvSpPr>
        <p:spPr>
          <a:xfrm>
            <a:off x="3446499" y="3605213"/>
            <a:ext cx="1028700" cy="3429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SQL</a:t>
            </a:r>
          </a:p>
        </p:txBody>
      </p:sp>
      <p:sp>
        <p:nvSpPr>
          <p:cNvPr id="32" name="Text Box 84">
            <a:extLst>
              <a:ext uri="{FF2B5EF4-FFF2-40B4-BE49-F238E27FC236}">
                <a16:creationId xmlns:a16="http://schemas.microsoft.com/office/drawing/2014/main" id="{F4F4CEFC-DCC7-4B3A-B087-669EAC95EA8E}"/>
              </a:ext>
            </a:extLst>
          </p:cNvPr>
          <p:cNvSpPr txBox="1"/>
          <p:nvPr/>
        </p:nvSpPr>
        <p:spPr>
          <a:xfrm>
            <a:off x="5418420" y="2700344"/>
            <a:ext cx="1030288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SQL</a:t>
            </a:r>
          </a:p>
        </p:txBody>
      </p:sp>
      <p:sp>
        <p:nvSpPr>
          <p:cNvPr id="33" name="Text Box 84">
            <a:extLst>
              <a:ext uri="{FF2B5EF4-FFF2-40B4-BE49-F238E27FC236}">
                <a16:creationId xmlns:a16="http://schemas.microsoft.com/office/drawing/2014/main" id="{31F2AD38-D894-48EC-8E8F-1B9CD3A1CBF9}"/>
              </a:ext>
            </a:extLst>
          </p:cNvPr>
          <p:cNvSpPr txBox="1"/>
          <p:nvPr/>
        </p:nvSpPr>
        <p:spPr>
          <a:xfrm>
            <a:off x="6580612" y="522432"/>
            <a:ext cx="1030288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Firebase</a:t>
            </a:r>
          </a:p>
        </p:txBody>
      </p:sp>
      <p:sp>
        <p:nvSpPr>
          <p:cNvPr id="34" name="Text Box 84">
            <a:extLst>
              <a:ext uri="{FF2B5EF4-FFF2-40B4-BE49-F238E27FC236}">
                <a16:creationId xmlns:a16="http://schemas.microsoft.com/office/drawing/2014/main" id="{3CC2CC95-1A6F-4DD1-9DDA-7C74C992FFF9}"/>
              </a:ext>
            </a:extLst>
          </p:cNvPr>
          <p:cNvSpPr txBox="1"/>
          <p:nvPr/>
        </p:nvSpPr>
        <p:spPr>
          <a:xfrm>
            <a:off x="1125189" y="615525"/>
            <a:ext cx="1030288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Firebase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1E6786-2564-4838-B396-45D1C0002034}"/>
              </a:ext>
            </a:extLst>
          </p:cNvPr>
          <p:cNvSpPr/>
          <p:nvPr/>
        </p:nvSpPr>
        <p:spPr>
          <a:xfrm>
            <a:off x="5250170" y="2974293"/>
            <a:ext cx="1249342" cy="89535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b="1" kern="120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Accounts</a:t>
            </a:r>
            <a:endParaRPr lang="en-US" sz="13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Social_id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589B9C-AFCA-4316-B5C0-58C67E631802}"/>
              </a:ext>
            </a:extLst>
          </p:cNvPr>
          <p:cNvCxnSpPr>
            <a:cxnSpLocks/>
          </p:cNvCxnSpPr>
          <p:nvPr/>
        </p:nvCxnSpPr>
        <p:spPr>
          <a:xfrm flipH="1" flipV="1">
            <a:off x="4500514" y="1851077"/>
            <a:ext cx="744842" cy="170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64EE1AB-5685-4240-ACEB-84BD4ECE0D12}"/>
              </a:ext>
            </a:extLst>
          </p:cNvPr>
          <p:cNvCxnSpPr>
            <a:cxnSpLocks/>
          </p:cNvCxnSpPr>
          <p:nvPr/>
        </p:nvCxnSpPr>
        <p:spPr>
          <a:xfrm>
            <a:off x="2143386" y="1644874"/>
            <a:ext cx="1344530" cy="225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 Box 84">
            <a:extLst>
              <a:ext uri="{FF2B5EF4-FFF2-40B4-BE49-F238E27FC236}">
                <a16:creationId xmlns:a16="http://schemas.microsoft.com/office/drawing/2014/main" id="{DB9699AF-D099-4694-9CB0-DED70A0B1C69}"/>
              </a:ext>
            </a:extLst>
          </p:cNvPr>
          <p:cNvSpPr txBox="1"/>
          <p:nvPr/>
        </p:nvSpPr>
        <p:spPr>
          <a:xfrm>
            <a:off x="7084983" y="2557437"/>
            <a:ext cx="1028700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SQL</a:t>
            </a:r>
          </a:p>
        </p:txBody>
      </p:sp>
      <p:sp>
        <p:nvSpPr>
          <p:cNvPr id="44" name="Text Box 84">
            <a:extLst>
              <a:ext uri="{FF2B5EF4-FFF2-40B4-BE49-F238E27FC236}">
                <a16:creationId xmlns:a16="http://schemas.microsoft.com/office/drawing/2014/main" id="{9279AC6E-D734-4EB7-922C-27F55B6C1148}"/>
              </a:ext>
            </a:extLst>
          </p:cNvPr>
          <p:cNvSpPr txBox="1"/>
          <p:nvPr/>
        </p:nvSpPr>
        <p:spPr>
          <a:xfrm>
            <a:off x="875602" y="2195035"/>
            <a:ext cx="1030288" cy="4476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Firebase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05BA1B-1278-4B98-95AB-8495ADD9015E}"/>
              </a:ext>
            </a:extLst>
          </p:cNvPr>
          <p:cNvCxnSpPr>
            <a:cxnSpLocks/>
          </p:cNvCxnSpPr>
          <p:nvPr/>
        </p:nvCxnSpPr>
        <p:spPr>
          <a:xfrm>
            <a:off x="4496991" y="1868249"/>
            <a:ext cx="1894746" cy="615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4C3798-D144-4D5B-900B-59634B5AFE38}"/>
              </a:ext>
            </a:extLst>
          </p:cNvPr>
          <p:cNvCxnSpPr>
            <a:cxnSpLocks/>
          </p:cNvCxnSpPr>
          <p:nvPr/>
        </p:nvCxnSpPr>
        <p:spPr>
          <a:xfrm flipV="1">
            <a:off x="6473740" y="3186902"/>
            <a:ext cx="379637" cy="13729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 Box 172">
            <a:extLst>
              <a:ext uri="{FF2B5EF4-FFF2-40B4-BE49-F238E27FC236}">
                <a16:creationId xmlns:a16="http://schemas.microsoft.com/office/drawing/2014/main" id="{91788A41-722E-4A9D-B2EE-3EBD5DCD19D4}"/>
              </a:ext>
            </a:extLst>
          </p:cNvPr>
          <p:cNvSpPr txBox="1"/>
          <p:nvPr/>
        </p:nvSpPr>
        <p:spPr>
          <a:xfrm>
            <a:off x="5035806" y="3421968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66" name="Text Box 172">
            <a:extLst>
              <a:ext uri="{FF2B5EF4-FFF2-40B4-BE49-F238E27FC236}">
                <a16:creationId xmlns:a16="http://schemas.microsoft.com/office/drawing/2014/main" id="{5FB86B9D-A5F3-4143-9CB0-8A36C36935DB}"/>
              </a:ext>
            </a:extLst>
          </p:cNvPr>
          <p:cNvSpPr txBox="1"/>
          <p:nvPr/>
        </p:nvSpPr>
        <p:spPr>
          <a:xfrm>
            <a:off x="1959652" y="4230705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67" name="Text Box 172">
            <a:extLst>
              <a:ext uri="{FF2B5EF4-FFF2-40B4-BE49-F238E27FC236}">
                <a16:creationId xmlns:a16="http://schemas.microsoft.com/office/drawing/2014/main" id="{40DD653F-383D-4901-96D7-D5C62808C70E}"/>
              </a:ext>
            </a:extLst>
          </p:cNvPr>
          <p:cNvSpPr txBox="1"/>
          <p:nvPr/>
        </p:nvSpPr>
        <p:spPr>
          <a:xfrm>
            <a:off x="3231290" y="1534941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68" name="Text Box 172">
            <a:extLst>
              <a:ext uri="{FF2B5EF4-FFF2-40B4-BE49-F238E27FC236}">
                <a16:creationId xmlns:a16="http://schemas.microsoft.com/office/drawing/2014/main" id="{16119B76-A6C3-4CA8-A8C9-2EF465B11C2E}"/>
              </a:ext>
            </a:extLst>
          </p:cNvPr>
          <p:cNvSpPr txBox="1"/>
          <p:nvPr/>
        </p:nvSpPr>
        <p:spPr>
          <a:xfrm>
            <a:off x="4488998" y="1571929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69" name="Text Box 168">
            <a:extLst>
              <a:ext uri="{FF2B5EF4-FFF2-40B4-BE49-F238E27FC236}">
                <a16:creationId xmlns:a16="http://schemas.microsoft.com/office/drawing/2014/main" id="{8D2FF138-F632-4567-A5DC-7E5CFFA41CFD}"/>
              </a:ext>
            </a:extLst>
          </p:cNvPr>
          <p:cNvSpPr txBox="1"/>
          <p:nvPr/>
        </p:nvSpPr>
        <p:spPr>
          <a:xfrm>
            <a:off x="6669153" y="2900703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0" name="Text Box 168">
            <a:extLst>
              <a:ext uri="{FF2B5EF4-FFF2-40B4-BE49-F238E27FC236}">
                <a16:creationId xmlns:a16="http://schemas.microsoft.com/office/drawing/2014/main" id="{989D35D0-27F9-4B75-AB6C-247350E1C07C}"/>
              </a:ext>
            </a:extLst>
          </p:cNvPr>
          <p:cNvSpPr txBox="1"/>
          <p:nvPr/>
        </p:nvSpPr>
        <p:spPr>
          <a:xfrm>
            <a:off x="2969638" y="4288786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1" name="Text Box 168">
            <a:extLst>
              <a:ext uri="{FF2B5EF4-FFF2-40B4-BE49-F238E27FC236}">
                <a16:creationId xmlns:a16="http://schemas.microsoft.com/office/drawing/2014/main" id="{BE6BFCF0-35C6-4F30-9D3C-19D47C0439EE}"/>
              </a:ext>
            </a:extLst>
          </p:cNvPr>
          <p:cNvSpPr txBox="1"/>
          <p:nvPr/>
        </p:nvSpPr>
        <p:spPr>
          <a:xfrm>
            <a:off x="6152501" y="1910200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2" name="Text Box 168">
            <a:extLst>
              <a:ext uri="{FF2B5EF4-FFF2-40B4-BE49-F238E27FC236}">
                <a16:creationId xmlns:a16="http://schemas.microsoft.com/office/drawing/2014/main" id="{8E5C503F-A93D-4741-AD05-5E4DB8C66FE9}"/>
              </a:ext>
            </a:extLst>
          </p:cNvPr>
          <p:cNvSpPr txBox="1"/>
          <p:nvPr/>
        </p:nvSpPr>
        <p:spPr>
          <a:xfrm>
            <a:off x="1945262" y="2734016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3" name="Text Box 168">
            <a:extLst>
              <a:ext uri="{FF2B5EF4-FFF2-40B4-BE49-F238E27FC236}">
                <a16:creationId xmlns:a16="http://schemas.microsoft.com/office/drawing/2014/main" id="{DFE87C21-A72B-488A-A96F-F10C915DA351}"/>
              </a:ext>
            </a:extLst>
          </p:cNvPr>
          <p:cNvSpPr txBox="1"/>
          <p:nvPr/>
        </p:nvSpPr>
        <p:spPr>
          <a:xfrm>
            <a:off x="2111662" y="1614613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4" name="Text Box 168">
            <a:extLst>
              <a:ext uri="{FF2B5EF4-FFF2-40B4-BE49-F238E27FC236}">
                <a16:creationId xmlns:a16="http://schemas.microsoft.com/office/drawing/2014/main" id="{91B3B358-B009-4935-B9FC-C8D4BE4AE73B}"/>
              </a:ext>
            </a:extLst>
          </p:cNvPr>
          <p:cNvSpPr txBox="1"/>
          <p:nvPr/>
        </p:nvSpPr>
        <p:spPr>
          <a:xfrm>
            <a:off x="4659355" y="4409761"/>
            <a:ext cx="27622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</a:p>
        </p:txBody>
      </p:sp>
      <p:sp>
        <p:nvSpPr>
          <p:cNvPr id="75" name="Text Box 172">
            <a:extLst>
              <a:ext uri="{FF2B5EF4-FFF2-40B4-BE49-F238E27FC236}">
                <a16:creationId xmlns:a16="http://schemas.microsoft.com/office/drawing/2014/main" id="{72B23739-9CFF-404C-92B4-F6E954BDF410}"/>
              </a:ext>
            </a:extLst>
          </p:cNvPr>
          <p:cNvSpPr txBox="1"/>
          <p:nvPr/>
        </p:nvSpPr>
        <p:spPr>
          <a:xfrm>
            <a:off x="6434547" y="3028081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76" name="Text Box 172">
            <a:extLst>
              <a:ext uri="{FF2B5EF4-FFF2-40B4-BE49-F238E27FC236}">
                <a16:creationId xmlns:a16="http://schemas.microsoft.com/office/drawing/2014/main" id="{846B0A66-47EF-449D-AA4A-53095279AD42}"/>
              </a:ext>
            </a:extLst>
          </p:cNvPr>
          <p:cNvSpPr txBox="1"/>
          <p:nvPr/>
        </p:nvSpPr>
        <p:spPr>
          <a:xfrm>
            <a:off x="6635815" y="3918189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77" name="Text Box 172">
            <a:extLst>
              <a:ext uri="{FF2B5EF4-FFF2-40B4-BE49-F238E27FC236}">
                <a16:creationId xmlns:a16="http://schemas.microsoft.com/office/drawing/2014/main" id="{BA1207A8-81EF-47B7-9A9C-6A107151894B}"/>
              </a:ext>
            </a:extLst>
          </p:cNvPr>
          <p:cNvSpPr txBox="1"/>
          <p:nvPr/>
        </p:nvSpPr>
        <p:spPr>
          <a:xfrm>
            <a:off x="3255867" y="2038539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  <p:sp>
        <p:nvSpPr>
          <p:cNvPr id="78" name="Text Box 172">
            <a:extLst>
              <a:ext uri="{FF2B5EF4-FFF2-40B4-BE49-F238E27FC236}">
                <a16:creationId xmlns:a16="http://schemas.microsoft.com/office/drawing/2014/main" id="{3E8C12ED-A881-445F-A9C3-8C7114B10874}"/>
              </a:ext>
            </a:extLst>
          </p:cNvPr>
          <p:cNvSpPr txBox="1"/>
          <p:nvPr/>
        </p:nvSpPr>
        <p:spPr>
          <a:xfrm>
            <a:off x="4449805" y="2042352"/>
            <a:ext cx="209550" cy="3524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spcBef>
                <a:spcPts val="600"/>
              </a:spcBef>
              <a:spcAft>
                <a:spcPts val="600"/>
              </a:spcAft>
            </a:pPr>
            <a:r>
              <a:rPr lang="en-US" sz="13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2612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CD0B2B-8AF2-4216-9A7A-AFEFEE344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/>
              <a:t>Biểu đồ lớp tổng quát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01371-4857-42E0-B21D-722A181E36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35696" y="1032222"/>
            <a:ext cx="61722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7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50FB6A-9781-49D8-98D8-39A397296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195486"/>
            <a:ext cx="8964488" cy="504056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76595-81BB-4FCB-8088-9AA6170DA76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086339"/>
            <a:ext cx="1940421" cy="34241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46438-FBD5-4630-8A8A-93B39D859D3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861" y="1059582"/>
            <a:ext cx="1940421" cy="342415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B482A7F9-A6F8-4D06-B963-0B13B25A6318}"/>
              </a:ext>
            </a:extLst>
          </p:cNvPr>
          <p:cNvSpPr txBox="1">
            <a:spLocks/>
          </p:cNvSpPr>
          <p:nvPr/>
        </p:nvSpPr>
        <p:spPr>
          <a:xfrm>
            <a:off x="2188551" y="4650635"/>
            <a:ext cx="2016224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đăng nhập đăng ký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3A11CB85-93FB-40B0-B2D0-C31F6C42D7A0}"/>
              </a:ext>
            </a:extLst>
          </p:cNvPr>
          <p:cNvSpPr txBox="1">
            <a:spLocks/>
          </p:cNvSpPr>
          <p:nvPr/>
        </p:nvSpPr>
        <p:spPr>
          <a:xfrm>
            <a:off x="4939227" y="4693629"/>
            <a:ext cx="222885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khôi phục tài khoản</a:t>
            </a:r>
          </a:p>
        </p:txBody>
      </p:sp>
    </p:spTree>
    <p:extLst>
      <p:ext uri="{BB962C8B-B14F-4D97-AF65-F5344CB8AC3E}">
        <p14:creationId xmlns:p14="http://schemas.microsoft.com/office/powerpoint/2010/main" val="247202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9150D1-A4ED-4330-BA37-959C918BC4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1620" y="267494"/>
            <a:ext cx="6840760" cy="432048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A9B6E-B6BB-4C44-98CA-AECED42B9FF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074164"/>
            <a:ext cx="1940421" cy="34219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F8BBE-7A0F-4BCE-BA80-60F32E2CC7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09" y="1074164"/>
            <a:ext cx="1940421" cy="34219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DC6D4E81-2252-401B-9D07-7CB2343903F7}"/>
              </a:ext>
            </a:extLst>
          </p:cNvPr>
          <p:cNvSpPr txBox="1">
            <a:spLocks/>
          </p:cNvSpPr>
          <p:nvPr/>
        </p:nvSpPr>
        <p:spPr>
          <a:xfrm>
            <a:off x="2188551" y="4650635"/>
            <a:ext cx="2016224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đăng nhập 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FDE1E272-73E6-4461-82FB-841E6C9DF9C6}"/>
              </a:ext>
            </a:extLst>
          </p:cNvPr>
          <p:cNvSpPr txBox="1">
            <a:spLocks/>
          </p:cNvSpPr>
          <p:nvPr/>
        </p:nvSpPr>
        <p:spPr>
          <a:xfrm>
            <a:off x="5110162" y="4629846"/>
            <a:ext cx="2016224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đăng ký</a:t>
            </a:r>
          </a:p>
        </p:txBody>
      </p:sp>
    </p:spTree>
    <p:extLst>
      <p:ext uri="{BB962C8B-B14F-4D97-AF65-F5344CB8AC3E}">
        <p14:creationId xmlns:p14="http://schemas.microsoft.com/office/powerpoint/2010/main" val="286513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5320DE-5146-400C-AEE0-1C7285768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516" y="-10590"/>
            <a:ext cx="8712968" cy="576064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CC4C1-29A6-4408-ACB1-E321DDC87E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17" y="665921"/>
            <a:ext cx="1940422" cy="3811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5B72FD-8DFD-49A2-A7FC-FAC290672F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660203"/>
            <a:ext cx="1940422" cy="38122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6A2600A-27B6-49D4-BFAD-4ECED86BF27F}"/>
              </a:ext>
            </a:extLst>
          </p:cNvPr>
          <p:cNvSpPr txBox="1">
            <a:spLocks/>
          </p:cNvSpPr>
          <p:nvPr/>
        </p:nvSpPr>
        <p:spPr>
          <a:xfrm>
            <a:off x="2142117" y="4578025"/>
            <a:ext cx="2016224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chính 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EE3C02F-7FB2-4F82-B3C3-A737795ABE9B}"/>
              </a:ext>
            </a:extLst>
          </p:cNvPr>
          <p:cNvSpPr txBox="1">
            <a:spLocks/>
          </p:cNvSpPr>
          <p:nvPr/>
        </p:nvSpPr>
        <p:spPr>
          <a:xfrm>
            <a:off x="5098713" y="4578024"/>
            <a:ext cx="2016224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chính </a:t>
            </a:r>
          </a:p>
        </p:txBody>
      </p:sp>
    </p:spTree>
    <p:extLst>
      <p:ext uri="{BB962C8B-B14F-4D97-AF65-F5344CB8AC3E}">
        <p14:creationId xmlns:p14="http://schemas.microsoft.com/office/powerpoint/2010/main" val="332659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B531E8-BEFB-487C-89C7-F7F34554F5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9632" y="31158"/>
            <a:ext cx="7056784" cy="576064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F5F83-7B61-4141-B743-EE1BBEA0F2D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665921"/>
            <a:ext cx="1940422" cy="3811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209CE7-3E33-4443-8580-BDB5173F484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669687"/>
            <a:ext cx="1935068" cy="3811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71DF48D4-DD9E-4E5D-9B80-E806637B52DB}"/>
              </a:ext>
            </a:extLst>
          </p:cNvPr>
          <p:cNvSpPr txBox="1">
            <a:spLocks/>
          </p:cNvSpPr>
          <p:nvPr/>
        </p:nvSpPr>
        <p:spPr>
          <a:xfrm>
            <a:off x="2267744" y="4560467"/>
            <a:ext cx="2066049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HowToVideo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C45DEF6-2EEA-42B7-983D-5D05953AD8B3}"/>
              </a:ext>
            </a:extLst>
          </p:cNvPr>
          <p:cNvSpPr txBox="1">
            <a:spLocks/>
          </p:cNvSpPr>
          <p:nvPr/>
        </p:nvSpPr>
        <p:spPr>
          <a:xfrm>
            <a:off x="4984507" y="4560467"/>
            <a:ext cx="24061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danh sách đại lý  </a:t>
            </a:r>
          </a:p>
        </p:txBody>
      </p:sp>
    </p:spTree>
    <p:extLst>
      <p:ext uri="{BB962C8B-B14F-4D97-AF65-F5344CB8AC3E}">
        <p14:creationId xmlns:p14="http://schemas.microsoft.com/office/powerpoint/2010/main" val="1377282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1E1589-0ED3-4144-BE33-B37A7F114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23478"/>
            <a:ext cx="8208912" cy="432048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CFD4A-EC88-42F6-BE8F-ACDADF12722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663175"/>
            <a:ext cx="1957951" cy="38171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BEBF1A-4776-49E4-AB6D-67EA016FCD5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23" y="643918"/>
            <a:ext cx="1957951" cy="3817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18A33C6-35E6-491E-ABA1-D9D549ED631C}"/>
              </a:ext>
            </a:extLst>
          </p:cNvPr>
          <p:cNvSpPr txBox="1">
            <a:spLocks/>
          </p:cNvSpPr>
          <p:nvPr/>
        </p:nvSpPr>
        <p:spPr>
          <a:xfrm>
            <a:off x="1959554" y="4549460"/>
            <a:ext cx="22862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bảo d</a:t>
            </a:r>
            <a:r>
              <a:rPr lang="vi-VN" sz="1400" b="1">
                <a:cs typeface="Arial" pitchFamily="34" charset="0"/>
              </a:rPr>
              <a:t>ư</a:t>
            </a:r>
            <a:r>
              <a:rPr lang="en-US" sz="1400" b="1">
                <a:cs typeface="Arial" pitchFamily="34" charset="0"/>
              </a:rPr>
              <a:t>ỡng xe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DDDE6082-DD9F-4959-A176-AE435B9EF6B0}"/>
              </a:ext>
            </a:extLst>
          </p:cNvPr>
          <p:cNvSpPr txBox="1">
            <a:spLocks/>
          </p:cNvSpPr>
          <p:nvPr/>
        </p:nvSpPr>
        <p:spPr>
          <a:xfrm>
            <a:off x="4865663" y="4549460"/>
            <a:ext cx="267844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thông tin chi tiết xe</a:t>
            </a:r>
          </a:p>
        </p:txBody>
      </p:sp>
    </p:spTree>
    <p:extLst>
      <p:ext uri="{BB962C8B-B14F-4D97-AF65-F5344CB8AC3E}">
        <p14:creationId xmlns:p14="http://schemas.microsoft.com/office/powerpoint/2010/main" val="336164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CB040-78AD-4988-805C-2EF87744F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19672" y="123478"/>
            <a:ext cx="6264696" cy="576064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CECD8-E9E5-407C-9692-8AEEEF72038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148" y="782485"/>
            <a:ext cx="1957951" cy="3817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7EA2C-283D-480B-A496-21320140F8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768179"/>
            <a:ext cx="1957951" cy="38171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5F199D4D-8994-4455-B6F4-619F61B80673}"/>
              </a:ext>
            </a:extLst>
          </p:cNvPr>
          <p:cNvSpPr txBox="1">
            <a:spLocks/>
          </p:cNvSpPr>
          <p:nvPr/>
        </p:nvSpPr>
        <p:spPr>
          <a:xfrm>
            <a:off x="2105682" y="4682577"/>
            <a:ext cx="22862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Chat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23AD041E-DD14-440A-AECF-BEE7F57FD2F0}"/>
              </a:ext>
            </a:extLst>
          </p:cNvPr>
          <p:cNvSpPr txBox="1">
            <a:spLocks/>
          </p:cNvSpPr>
          <p:nvPr/>
        </p:nvSpPr>
        <p:spPr>
          <a:xfrm>
            <a:off x="5127906" y="4690113"/>
            <a:ext cx="22862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Hotline</a:t>
            </a:r>
          </a:p>
        </p:txBody>
      </p:sp>
    </p:spTree>
    <p:extLst>
      <p:ext uri="{BB962C8B-B14F-4D97-AF65-F5344CB8AC3E}">
        <p14:creationId xmlns:p14="http://schemas.microsoft.com/office/powerpoint/2010/main" val="2476855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B068E8-6796-4CC5-8456-0277EE22B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552" y="123478"/>
            <a:ext cx="8208912" cy="432048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D0A07-1DAF-42D4-A2D2-76617311082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771550"/>
            <a:ext cx="1957951" cy="3817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D5F4BA-B8B8-4148-99CB-FE68E0AD3DA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803586"/>
            <a:ext cx="1968433" cy="38390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F1DEC72F-1D54-4D08-AEEA-ECF4DABA9A53}"/>
              </a:ext>
            </a:extLst>
          </p:cNvPr>
          <p:cNvSpPr txBox="1">
            <a:spLocks/>
          </p:cNvSpPr>
          <p:nvPr/>
        </p:nvSpPr>
        <p:spPr>
          <a:xfrm>
            <a:off x="2175578" y="4642634"/>
            <a:ext cx="22862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thông báo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4922B94-C3DD-4BA7-99E0-A019401A3272}"/>
              </a:ext>
            </a:extLst>
          </p:cNvPr>
          <p:cNvSpPr txBox="1">
            <a:spLocks/>
          </p:cNvSpPr>
          <p:nvPr/>
        </p:nvSpPr>
        <p:spPr>
          <a:xfrm>
            <a:off x="4836136" y="4714562"/>
            <a:ext cx="259228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kiểm tra triệu hồi</a:t>
            </a:r>
          </a:p>
        </p:txBody>
      </p:sp>
    </p:spTree>
    <p:extLst>
      <p:ext uri="{BB962C8B-B14F-4D97-AF65-F5344CB8AC3E}">
        <p14:creationId xmlns:p14="http://schemas.microsoft.com/office/powerpoint/2010/main" val="2263418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98BC93-4B26-4F3F-B7CD-AD926D300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696" y="123478"/>
            <a:ext cx="5832648" cy="576064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FDD09-679C-4BB0-9603-8261D8B2819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784439"/>
            <a:ext cx="1957951" cy="3817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036B0F-B685-43B9-8D71-BFF965E2F91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784439"/>
            <a:ext cx="1957951" cy="3823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F65BA920-A064-48F2-80FA-26826B35D40C}"/>
              </a:ext>
            </a:extLst>
          </p:cNvPr>
          <p:cNvSpPr txBox="1">
            <a:spLocks/>
          </p:cNvSpPr>
          <p:nvPr/>
        </p:nvSpPr>
        <p:spPr>
          <a:xfrm>
            <a:off x="1763688" y="4642634"/>
            <a:ext cx="269818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trung tâm thông tin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9285FCC-D8D0-42C4-B169-D54393BD931A}"/>
              </a:ext>
            </a:extLst>
          </p:cNvPr>
          <p:cNvSpPr txBox="1">
            <a:spLocks/>
          </p:cNvSpPr>
          <p:nvPr/>
        </p:nvSpPr>
        <p:spPr>
          <a:xfrm>
            <a:off x="5066078" y="4678666"/>
            <a:ext cx="2286298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đặt lịch</a:t>
            </a:r>
          </a:p>
        </p:txBody>
      </p:sp>
    </p:spTree>
    <p:extLst>
      <p:ext uri="{BB962C8B-B14F-4D97-AF65-F5344CB8AC3E}">
        <p14:creationId xmlns:p14="http://schemas.microsoft.com/office/powerpoint/2010/main" val="268238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BEB84B-5B03-49CA-983C-517203D926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532" y="195486"/>
            <a:ext cx="8424936" cy="432048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0A8F4-6A5C-4360-AB14-6C89ADB3B8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62137" y="1346200"/>
            <a:ext cx="5419725" cy="2451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D554C34-3088-48D0-8DF6-B7F46F0B8646}"/>
              </a:ext>
            </a:extLst>
          </p:cNvPr>
          <p:cNvSpPr txBox="1">
            <a:spLocks/>
          </p:cNvSpPr>
          <p:nvPr/>
        </p:nvSpPr>
        <p:spPr>
          <a:xfrm>
            <a:off x="3059832" y="3939902"/>
            <a:ext cx="3240360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danh sách xe triệu hồi</a:t>
            </a:r>
          </a:p>
        </p:txBody>
      </p:sp>
    </p:spTree>
    <p:extLst>
      <p:ext uri="{BB962C8B-B14F-4D97-AF65-F5344CB8AC3E}">
        <p14:creationId xmlns:p14="http://schemas.microsoft.com/office/powerpoint/2010/main" val="3749192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A2439F-E805-4208-BD5D-1EF398D15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592" y="123478"/>
            <a:ext cx="6840760" cy="432048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0A200-9B2D-4A83-934F-788287A60D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38325" y="1376362"/>
            <a:ext cx="5467350" cy="2390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79F1F8C-369E-4409-8EEF-E3C08B4AEA87}"/>
              </a:ext>
            </a:extLst>
          </p:cNvPr>
          <p:cNvSpPr txBox="1">
            <a:spLocks/>
          </p:cNvSpPr>
          <p:nvPr/>
        </p:nvSpPr>
        <p:spPr>
          <a:xfrm>
            <a:off x="3059832" y="3939902"/>
            <a:ext cx="3240360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thêm bài viết</a:t>
            </a:r>
          </a:p>
        </p:txBody>
      </p:sp>
    </p:spTree>
    <p:extLst>
      <p:ext uri="{BB962C8B-B14F-4D97-AF65-F5344CB8AC3E}">
        <p14:creationId xmlns:p14="http://schemas.microsoft.com/office/powerpoint/2010/main" val="562827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9EA99D-E9FF-4039-837D-3A26782075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339502"/>
            <a:ext cx="8496944" cy="576064"/>
          </a:xfrm>
        </p:spPr>
        <p:txBody>
          <a:bodyPr/>
          <a:lstStyle/>
          <a:p>
            <a:pPr algn="ctr"/>
            <a:r>
              <a:rPr lang="en-US" sz="3000"/>
              <a:t>Cài đặt và triển khai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E40C7-CF10-4AD8-9C2A-C29096B788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24037" y="1491630"/>
            <a:ext cx="5495925" cy="2402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E3859F8C-21BF-4A30-965E-C8CBEC56306F}"/>
              </a:ext>
            </a:extLst>
          </p:cNvPr>
          <p:cNvSpPr txBox="1">
            <a:spLocks/>
          </p:cNvSpPr>
          <p:nvPr/>
        </p:nvSpPr>
        <p:spPr>
          <a:xfrm>
            <a:off x="3059832" y="4108121"/>
            <a:ext cx="3240360" cy="30030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cs typeface="Arial" pitchFamily="34" charset="0"/>
              </a:rPr>
              <a:t>Màn hình chat của hãng sản xuất</a:t>
            </a:r>
          </a:p>
        </p:txBody>
      </p:sp>
    </p:spTree>
    <p:extLst>
      <p:ext uri="{BB962C8B-B14F-4D97-AF65-F5344CB8AC3E}">
        <p14:creationId xmlns:p14="http://schemas.microsoft.com/office/powerpoint/2010/main" val="1083444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000"/>
              <a:t>Tổng kết và đánh giá</a:t>
            </a:r>
            <a:endParaRPr lang="ko-KR" altLang="en-US" sz="3000"/>
          </a:p>
        </p:txBody>
      </p:sp>
      <p:sp>
        <p:nvSpPr>
          <p:cNvPr id="4" name="Bent Arrow 3"/>
          <p:cNvSpPr/>
          <p:nvPr/>
        </p:nvSpPr>
        <p:spPr>
          <a:xfrm>
            <a:off x="485921" y="1260282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Bent Arrow 4"/>
          <p:cNvSpPr/>
          <p:nvPr/>
        </p:nvSpPr>
        <p:spPr>
          <a:xfrm rot="5400000">
            <a:off x="2061690" y="1365678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>
            <a:off x="1986487" y="3093704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Bent Arrow 6"/>
          <p:cNvSpPr/>
          <p:nvPr/>
        </p:nvSpPr>
        <p:spPr>
          <a:xfrm rot="16200000">
            <a:off x="313791" y="2947186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705661" y="3343856"/>
            <a:ext cx="304281" cy="2848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ound Same Side Corner Rectangle 36"/>
          <p:cNvSpPr/>
          <p:nvPr/>
        </p:nvSpPr>
        <p:spPr>
          <a:xfrm>
            <a:off x="2207678" y="3980850"/>
            <a:ext cx="331327" cy="261953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Block Arc 14"/>
          <p:cNvSpPr/>
          <p:nvPr/>
        </p:nvSpPr>
        <p:spPr>
          <a:xfrm rot="16200000">
            <a:off x="1743993" y="2715196"/>
            <a:ext cx="584277" cy="584662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2314398" y="3694198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Hướng phát triển</a:t>
            </a:r>
            <a:endParaRPr lang="ko-KR" altLang="en-US" sz="1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2596" y="4087587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Kết luận</a:t>
            </a:r>
            <a:endParaRPr lang="ko-KR" altLang="en-US" sz="1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3541" y="2052925"/>
            <a:ext cx="148916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Kết quả đạt đ</a:t>
            </a:r>
            <a:r>
              <a:rPr lang="vi-VN" altLang="ko-KR" sz="1200" b="1">
                <a:solidFill>
                  <a:schemeClr val="bg1"/>
                </a:solidFill>
                <a:cs typeface="Arial" pitchFamily="34" charset="0"/>
              </a:rPr>
              <a:t>ư</a:t>
            </a:r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ợc</a:t>
            </a:r>
            <a:endParaRPr lang="ko-KR" altLang="en-US" sz="12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31312" y="1500853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cs typeface="Arial" pitchFamily="34" charset="0"/>
              </a:rPr>
              <a:t>Vấn đề tồn tại</a:t>
            </a:r>
            <a:endParaRPr lang="ko-KR" altLang="en-US" sz="1200" b="1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581957" y="1102888"/>
            <a:ext cx="4054439" cy="942966"/>
            <a:chOff x="562478" y="2297666"/>
            <a:chExt cx="2446172" cy="666420"/>
          </a:xfrm>
        </p:grpSpPr>
        <p:sp>
          <p:nvSpPr>
            <p:cNvPr id="18" name="TextBox 17"/>
            <p:cNvSpPr txBox="1"/>
            <p:nvPr/>
          </p:nvSpPr>
          <p:spPr>
            <a:xfrm>
              <a:off x="572117" y="2297666"/>
              <a:ext cx="2436533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>
                  <a:solidFill>
                    <a:schemeClr val="accent1"/>
                  </a:solidFill>
                  <a:cs typeface="Arial" pitchFamily="34" charset="0"/>
                </a:rPr>
                <a:t>Kết quả đạt đ</a:t>
              </a:r>
              <a:r>
                <a:rPr lang="vi-VN" altLang="ko-KR" sz="1200" b="1">
                  <a:solidFill>
                    <a:schemeClr val="accent1"/>
                  </a:solidFill>
                  <a:cs typeface="Arial" pitchFamily="34" charset="0"/>
                </a:rPr>
                <a:t>ư</a:t>
              </a:r>
              <a:r>
                <a:rPr lang="en-US" altLang="ko-KR" sz="1200" b="1">
                  <a:solidFill>
                    <a:schemeClr val="accent1"/>
                  </a:solidFill>
                  <a:cs typeface="Arial" pitchFamily="34" charset="0"/>
                </a:rPr>
                <a:t>ợc </a:t>
              </a:r>
              <a:endParaRPr lang="ko-KR" altLang="en-US" sz="1200" b="1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2478" y="2507306"/>
              <a:ext cx="2436533" cy="4567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-Xây dựng đ</a:t>
              </a:r>
              <a:r>
                <a:rPr lang="vi-VN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ư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ợc hệ thống liên lạc và hỗ trợ chủ sở hữu xe ô tô trên nền tảng android và serenity.</a:t>
              </a:r>
            </a:p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-Hệ thống đã hoàn thành yêu cầu đặt ra.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565981" y="2165251"/>
            <a:ext cx="4038466" cy="723520"/>
            <a:chOff x="-867415" y="3168851"/>
            <a:chExt cx="3739457" cy="723520"/>
          </a:xfrm>
        </p:grpSpPr>
        <p:sp>
          <p:nvSpPr>
            <p:cNvPr id="21" name="TextBox 20"/>
            <p:cNvSpPr txBox="1"/>
            <p:nvPr/>
          </p:nvSpPr>
          <p:spPr>
            <a:xfrm>
              <a:off x="-867415" y="3168851"/>
              <a:ext cx="3739457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>
                  <a:solidFill>
                    <a:schemeClr val="accent2">
                      <a:lumMod val="75000"/>
                    </a:schemeClr>
                  </a:solidFill>
                  <a:cs typeface="Arial" pitchFamily="34" charset="0"/>
                </a:rPr>
                <a:t>Vấn đề tồn tại</a:t>
              </a:r>
              <a:endParaRPr lang="ko-KR" altLang="en-US" sz="1200" b="1">
                <a:solidFill>
                  <a:schemeClr val="accent2">
                    <a:lumMod val="7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867415" y="3430706"/>
              <a:ext cx="373945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-Giao diện trên ứng dụng mobile còn ch</a:t>
              </a:r>
              <a:r>
                <a:rPr lang="vi-VN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ư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 đẹp và tiện dụng.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591112" y="2888771"/>
            <a:ext cx="4038463" cy="1045899"/>
            <a:chOff x="-264176" y="4096598"/>
            <a:chExt cx="3739454" cy="816749"/>
          </a:xfrm>
        </p:grpSpPr>
        <p:sp>
          <p:nvSpPr>
            <p:cNvPr id="24" name="TextBox 23"/>
            <p:cNvSpPr txBox="1"/>
            <p:nvPr/>
          </p:nvSpPr>
          <p:spPr>
            <a:xfrm>
              <a:off x="-264176" y="4096598"/>
              <a:ext cx="3739454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>
                  <a:solidFill>
                    <a:schemeClr val="accent3"/>
                  </a:solidFill>
                  <a:cs typeface="Arial" pitchFamily="34" charset="0"/>
                </a:rPr>
                <a:t>Hướng phát triển</a:t>
              </a:r>
              <a:endParaRPr lang="ko-KR" altLang="en-US" sz="1200" b="1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-264176" y="4267016"/>
              <a:ext cx="3739454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-Xây dựng thêm webservice giải mã VIN cho từng hãng.</a:t>
              </a:r>
            </a:p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-Phát triển thêm ứng phía chủ sở hữu xe trên các nền tảng khác: IOS, Windows Phone.</a:t>
              </a:r>
            </a:p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-Thư</a:t>
              </a:r>
              <a:r>
                <a:rPr lang="vi-VN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ơ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ng mãi hóa hệ thống.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597933" y="4046815"/>
            <a:ext cx="4070417" cy="725312"/>
            <a:chOff x="-264176" y="5080906"/>
            <a:chExt cx="3769043" cy="725312"/>
          </a:xfrm>
        </p:grpSpPr>
        <p:sp>
          <p:nvSpPr>
            <p:cNvPr id="27" name="TextBox 26"/>
            <p:cNvSpPr txBox="1"/>
            <p:nvPr/>
          </p:nvSpPr>
          <p:spPr>
            <a:xfrm>
              <a:off x="-264176" y="5080906"/>
              <a:ext cx="3769043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>
                  <a:solidFill>
                    <a:schemeClr val="accent4">
                      <a:lumMod val="75000"/>
                    </a:schemeClr>
                  </a:solidFill>
                  <a:cs typeface="Arial" pitchFamily="34" charset="0"/>
                </a:rPr>
                <a:t>Kết luận</a:t>
              </a:r>
              <a:endParaRPr lang="ko-KR" altLang="en-US" sz="1200" b="1">
                <a:solidFill>
                  <a:schemeClr val="accent4">
                    <a:lumMod val="7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-264176" y="5344553"/>
              <a:ext cx="3769043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-Hệ thống liên lạc và hỗ trợ chủ xe ô tô đã hoàn thành theo nội dung và thời gian đã định. </a:t>
              </a:r>
            </a:p>
          </p:txBody>
        </p:sp>
      </p:grpSp>
      <p:sp>
        <p:nvSpPr>
          <p:cNvPr id="30" name="Frame 17">
            <a:extLst>
              <a:ext uri="{FF2B5EF4-FFF2-40B4-BE49-F238E27FC236}">
                <a16:creationId xmlns:a16="http://schemas.microsoft.com/office/drawing/2014/main" id="{9D5F306D-9E1E-4C0B-AC18-56673322AC8F}"/>
              </a:ext>
            </a:extLst>
          </p:cNvPr>
          <p:cNvSpPr/>
          <p:nvPr/>
        </p:nvSpPr>
        <p:spPr>
          <a:xfrm>
            <a:off x="1222377" y="1698532"/>
            <a:ext cx="397295" cy="33993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Freeform 20">
            <a:extLst>
              <a:ext uri="{FF2B5EF4-FFF2-40B4-BE49-F238E27FC236}">
                <a16:creationId xmlns:a16="http://schemas.microsoft.com/office/drawing/2014/main" id="{1C1DD04D-50AB-4485-AF34-1886755CD5E2}"/>
              </a:ext>
            </a:extLst>
          </p:cNvPr>
          <p:cNvSpPr/>
          <p:nvPr/>
        </p:nvSpPr>
        <p:spPr>
          <a:xfrm>
            <a:off x="2852979" y="2198592"/>
            <a:ext cx="328963" cy="373158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012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1491630"/>
            <a:ext cx="3923928" cy="1800200"/>
          </a:xfrm>
        </p:spPr>
        <p:txBody>
          <a:bodyPr/>
          <a:lstStyle/>
          <a:p>
            <a:r>
              <a:rPr lang="en-US" altLang="ko-KR"/>
              <a:t>Cảm ơn thầy cô và các bạn lắng nghe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4011</TotalTime>
  <Words>1107</Words>
  <Application>Microsoft Office PowerPoint</Application>
  <PresentationFormat>On-screen Show (16:9)</PresentationFormat>
  <Paragraphs>250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 Unicode MS</vt:lpstr>
      <vt:lpstr>맑은 고딕</vt:lpstr>
      <vt:lpstr>Arial</vt:lpstr>
      <vt:lpstr>Calibri</vt:lpstr>
      <vt:lpstr>Times New Roman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khachungbg97@gmail.com</cp:lastModifiedBy>
  <cp:revision>178</cp:revision>
  <dcterms:created xsi:type="dcterms:W3CDTF">2016-12-05T23:26:54Z</dcterms:created>
  <dcterms:modified xsi:type="dcterms:W3CDTF">2018-12-15T09:11:27Z</dcterms:modified>
</cp:coreProperties>
</file>